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asks a simple but important question: if you hide or scramble a smart contract's source code, does it actually make the contract safer from automated bug-finding tools? Introduce the team and supervisor. Keep it light — this is a workshop for a mixed audience, many new to smart-contract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simply. Smart contracts are programs that hold real money on Ethereum. If they have bugs, attackers can steal funds. So people build automatic tools that scan contracts for vulnerabilities. Our research asks: some developers obfuscate (hide/scramble) their source code hoping to hide bugs from these tools and attackers. Does that actually work? We investigate it empirically — we do not assume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first half of our work. We collect verified Solidity contracts from Etherscan (verified means the published source matches the deployed bytecode, so it's reliable ground truth). We use SmartBugs, which is an orchestration framework — think of it as a conductor that runs four different analysis tools in a uniform way and collects their results. The four tools: Slither does static analysis (reads the code and flags risky patterns, fast). Mythril and Oyente use symbolic execution (they 'simulate' many execution paths to find bugs, deeper but slower). Osiris specializes in integer bugs. Key point for beginners: different tools catch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nine vulnerability classes we track across the study. Give one quick plain example — reentrancy is the classic DAO hack: the attacker calls back into the contract before it updates its balance, draining it. Integer overflow: a number exceeds its maximum and wraps to zero. Don't go deep on each — just show the audience the landscape of what these tools try to catch. Important caveat to say aloud: not every tool detects every class; the exact mapping depends on tool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obfuscation simply: it transforms the source code so it still does the same thing, but becomes hard for a human — or a tool — to read. BiAn is a published Solidity obfuscator; it renames variables, strips whitespace, and restructures code. We obfuscate each contract, then run the exact same four tools on the obfuscated version and compare. Note aloud: we only show a conceptual before/after here — the real transforms depend on BiAn's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source-side story, told conceptually so we never over-claim a disputed number. Three observations: (1) BiAn obfuscation frequently breaks compilation — and if a contract doesn't compile, the analysis tool simply can't run on it. (2) So the obfuscated version produces fewer findings, but that's because the tool failed to run, NOT because the bugs are gone. 'No finding' is not the same as 'secure.' (3) The effect isn't uniform — different tools and different obfuscation settings behave differently. Bottom line: obfuscation makes code harder to read, but that is not the same as making it secure. These are preliminary — the full study is ongoing.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to the second half of our work. Everything so far assumed we HAVE the source code. But in reality, most contracts deployed on Ethereum are closed-source — only the compiled bytecode lives on-chain, and it's unreadable. The obfuscation study is almost a mild version of this; the real-world hard case is having nothing but bytecode. Most of our tools need source. So: can we still analyse a contract from bytecode alone? That's what the bytecode side of our project tackles.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zero-knowledge (ZK) proofs for a general audience. The core idea: you can prove a statement is true without revealing the information behind it. Three roles: the Prover has a secret and wants to convince someone; it produces a ZK proof — a compact cryptographic object that leaks nothing about the secret; the Verifier can quickly check the proof is valid without ever seeing the secret data. Use the one-line analogy: proving you know a password without saying it. Keep it conceptual — no math. This sets up the next slide on how ZK helps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connect ZK to consensus. Consensus means many independent nodes must agree on a single valid state of the blockchain. Normally every node re-runs every transaction to check validity — expensive. With ZK: (1) one node produces a proof that a batch of transactions / a block is valid, and all other nodes just verify that small proof instead of re-running the work — this is fast and scales (the idea behind ZK-rollups). (2) The proof is trustless: any node accepts a valid proof no matter who made it, so you don't have to trust the producer. (3) Nodes can agree on a state change without the private inputs being exposed. Prototype framing: prove a block valid once, and the whole network reaches agreement by checking the proof rather than redoing the computation. Keep it at concept level — this is a prototype idea, not a finished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bytecode pipeline — this is our novel contribution. Four steps: (1) start from raw bytecode. (2) Gigahorse is a decompiler — it lifts the bytecode into a readable intermediate representation called TAC (three-address code), recovering functions, storage, and control flow. (3) We feed that to a large language model (LLM) which reconstructs likely Solidity source. (4) Then we run the same SmartBugs tools on the reconstructed source. We've run this at scale — around 2,175 contracts decompiled across our datasets. The research question now is: how faithful is the reconstruction, and do the vulnerabilities still show up after this round-trip? That tells us whether closed-source contracts can be analysed after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three takeaways. One: obfuscation is not protection — it mostly defeats the tooling and compilation, but the underlying bugs are still there. Two: even closed-source contracts aren't un-analysable — our decompile-plus-LLM pipeline can recover source from bytecode. Three: the quality of that recovery depends mainly on the decompiler, not the language model — that's where the hard problem is. Thank the audience, point them to the open-source tools,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10607040" y="457200"/>
            <a:ext cx="2194560" cy="2194560"/>
          </a:xfrm>
          <a:prstGeom prst="ellipse">
            <a:avLst/>
          </a:prstGeom>
          <a:solidFill>
            <a:srgbClr val="8C7BFF">
              <a:alpha val="12000"/>
            </a:srgbClr>
          </a:solidFill>
          <a:ln/>
        </p:spPr>
      </p:sp>
      <p:sp>
        <p:nvSpPr>
          <p:cNvPr id="3" name="Shape 1"/>
          <p:cNvSpPr/>
          <p:nvPr/>
        </p:nvSpPr>
        <p:spPr>
          <a:xfrm>
            <a:off x="-731520" y="4754880"/>
            <a:ext cx="2560320" cy="2560320"/>
          </a:xfrm>
          <a:prstGeom prst="ellipse">
            <a:avLst/>
          </a:prstGeom>
          <a:solidFill>
            <a:srgbClr val="5FA8FF">
              <a:alpha val="10000"/>
            </a:srgbClr>
          </a:solidFill>
          <a:ln/>
        </p:spPr>
      </p:sp>
      <p:sp>
        <p:nvSpPr>
          <p:cNvPr id="4" name="Shape 2"/>
          <p:cNvSpPr/>
          <p:nvPr/>
        </p:nvSpPr>
        <p:spPr>
          <a:xfrm>
            <a:off x="822960" y="777240"/>
            <a:ext cx="2226564" cy="292608"/>
          </a:xfrm>
          <a:prstGeom prst="roundRect">
            <a:avLst>
              <a:gd name="adj" fmla="val 50000"/>
            </a:avLst>
          </a:prstGeom>
          <a:solidFill>
            <a:srgbClr val="1E2A5A"/>
          </a:solidFill>
          <a:ln/>
        </p:spPr>
      </p:sp>
      <p:sp>
        <p:nvSpPr>
          <p:cNvPr id="5" name="Text 3"/>
          <p:cNvSpPr txBox="1"/>
          <p:nvPr/>
        </p:nvSpPr>
        <p:spPr>
          <a:xfrm>
            <a:off x="822960" y="777240"/>
            <a:ext cx="2226564" cy="292608"/>
          </a:xfrm>
          <a:prstGeom prst="rect">
            <a:avLst/>
          </a:prstGeom>
          <a:noFill/>
          <a:ln/>
        </p:spPr>
        <p:txBody>
          <a:bodyPr wrap="square" lIns="0" tIns="0" rIns="0" bIns="0"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ETHEREUM DAY  ·  IIT INDORE</a:t>
            </a:r>
            <a:endParaRPr lang="en-US" sz="1000" dirty="0"/>
          </a:p>
        </p:txBody>
      </p:sp>
      <p:sp>
        <p:nvSpPr>
          <p:cNvPr id="6" name="Text 4"/>
          <p:cNvSpPr txBox="1"/>
          <p:nvPr/>
        </p:nvSpPr>
        <p:spPr>
          <a:xfrm>
            <a:off x="822960" y="137160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Obfuscation Is Not Protection</a:t>
            </a:r>
            <a:endParaRPr lang="en-US" sz="4400" dirty="0"/>
          </a:p>
        </p:txBody>
      </p:sp>
      <p:sp>
        <p:nvSpPr>
          <p:cNvPr id="7" name="Text 5"/>
          <p:cNvSpPr txBox="1"/>
          <p:nvPr/>
        </p:nvSpPr>
        <p:spPr>
          <a:xfrm>
            <a:off x="822960" y="2331720"/>
            <a:ext cx="10058400" cy="548640"/>
          </a:xfrm>
          <a:prstGeom prst="rect">
            <a:avLst/>
          </a:prstGeom>
          <a:noFill/>
          <a:ln/>
        </p:spPr>
        <p:txBody>
          <a:bodyPr wrap="square" lIns="0" tIns="0" rIns="0" bIns="0" rtlCol="0" anchor="ctr"/>
          <a:lstStyle/>
          <a:p>
            <a:pPr indent="0" marL="0">
              <a:buNone/>
            </a:pPr>
            <a:r>
              <a:rPr lang="en-US" sz="2000" i="1" dirty="0">
                <a:solidFill>
                  <a:srgbClr val="8C7BFF"/>
                </a:solidFill>
                <a:latin typeface="Calibri" pitchFamily="34" charset="0"/>
                <a:ea typeface="Calibri" pitchFamily="34" charset="-122"/>
                <a:cs typeface="Calibri" pitchFamily="34" charset="-120"/>
              </a:rPr>
              <a:t>How hiding Solidity source code affects bug-finding tools</a:t>
            </a:r>
            <a:endParaRPr lang="en-US" sz="2000" dirty="0"/>
          </a:p>
        </p:txBody>
      </p:sp>
      <p:sp>
        <p:nvSpPr>
          <p:cNvPr id="8" name="Shape 6"/>
          <p:cNvSpPr/>
          <p:nvPr/>
        </p:nvSpPr>
        <p:spPr>
          <a:xfrm>
            <a:off x="822960" y="3200400"/>
            <a:ext cx="6766560" cy="2743200"/>
          </a:xfrm>
          <a:prstGeom prst="roundRect">
            <a:avLst>
              <a:gd name="adj" fmla="val 3000"/>
            </a:avLst>
          </a:prstGeom>
          <a:solidFill>
            <a:srgbClr val="141E47"/>
          </a:solidFill>
          <a:ln/>
          <a:effectLst>
            <a:outerShdw sx="100000" sy="100000" kx="0" ky="0" algn="bl" rotWithShape="0" blurRad="101600" dist="38100" dir="5400000">
              <a:srgbClr val="000000">
                <a:alpha val="35000"/>
              </a:srgbClr>
            </a:outerShdw>
          </a:effectLst>
        </p:spPr>
      </p:sp>
      <p:sp>
        <p:nvSpPr>
          <p:cNvPr id="9" name="Text 7"/>
          <p:cNvSpPr txBox="1"/>
          <p:nvPr/>
        </p:nvSpPr>
        <p:spPr>
          <a:xfrm>
            <a:off x="1097280" y="3383280"/>
            <a:ext cx="5943600" cy="365760"/>
          </a:xfrm>
          <a:prstGeom prst="rect">
            <a:avLst/>
          </a:prstGeom>
          <a:noFill/>
          <a:ln/>
        </p:spPr>
        <p:txBody>
          <a:bodyPr wrap="square" lIns="0" tIns="0" rIns="0" bIns="0" rtlCol="0" anchor="ctr"/>
          <a:lstStyle/>
          <a:p>
            <a:pPr indent="0" marL="0">
              <a:buNone/>
            </a:pPr>
            <a:r>
              <a:rPr lang="en-US" sz="1300" b="1" spc="200" kern="0" dirty="0">
                <a:solidFill>
                  <a:srgbClr val="5FA8FF"/>
                </a:solidFill>
                <a:latin typeface="Calibri" pitchFamily="34" charset="0"/>
                <a:ea typeface="Calibri" pitchFamily="34" charset="-122"/>
                <a:cs typeface="Calibri" pitchFamily="34" charset="-120"/>
              </a:rPr>
              <a:t>Research Team</a:t>
            </a:r>
            <a:endParaRPr lang="en-US" sz="1300" dirty="0"/>
          </a:p>
        </p:txBody>
      </p:sp>
      <p:sp>
        <p:nvSpPr>
          <p:cNvPr id="10" name="Text 8"/>
          <p:cNvSpPr txBox="1"/>
          <p:nvPr/>
        </p:nvSpPr>
        <p:spPr>
          <a:xfrm>
            <a:off x="1143000" y="3749040"/>
            <a:ext cx="6172200" cy="2103120"/>
          </a:xfrm>
          <a:prstGeom prst="rect">
            <a:avLst/>
          </a:prstGeom>
          <a:noFill/>
          <a:ln/>
        </p:spPr>
        <p:txBody>
          <a:bodyPr wrap="square" lIns="0" tIns="0" rIns="0" bIns="0" rtlCol="0" anchor="ctr"/>
          <a:lstStyle/>
          <a:p>
            <a:pPr marL="177800" indent="-177800">
              <a:spcAft>
                <a:spcPts val="500"/>
              </a:spcAft>
              <a:buSzPct val="100000"/>
              <a:buChar char="•"/>
            </a:pPr>
            <a:r>
              <a:rPr lang="en-US" sz="1350" dirty="0">
                <a:solidFill>
                  <a:srgbClr val="CADCFC"/>
                </a:solidFill>
                <a:latin typeface="Calibri" pitchFamily="34" charset="0"/>
                <a:ea typeface="Calibri" pitchFamily="34" charset="-122"/>
                <a:cs typeface="Calibri" pitchFamily="34" charset="-120"/>
              </a:rPr>
              <a:t>Sorbajit Goswami  —  PhD Scholar, CSE</a:t>
            </a:r>
            <a:endParaRPr lang="en-US" sz="1350" dirty="0"/>
          </a:p>
          <a:p>
            <a:pPr marL="177800" indent="-177800">
              <a:spcAft>
                <a:spcPts val="500"/>
              </a:spcAft>
              <a:buSzPct val="100000"/>
              <a:buChar char="•"/>
            </a:pPr>
            <a:r>
              <a:rPr lang="en-US" sz="1350" dirty="0">
                <a:solidFill>
                  <a:srgbClr val="CADCFC"/>
                </a:solidFill>
                <a:latin typeface="Calibri" pitchFamily="34" charset="0"/>
                <a:ea typeface="Calibri" pitchFamily="34" charset="-122"/>
                <a:cs typeface="Calibri" pitchFamily="34" charset="-120"/>
              </a:rPr>
              <a:t>Katepalli Gayathri  —  B.Tech, CSE</a:t>
            </a:r>
            <a:endParaRPr lang="en-US" sz="1350" dirty="0"/>
          </a:p>
          <a:p>
            <a:pPr marL="177800" indent="-177800">
              <a:spcAft>
                <a:spcPts val="500"/>
              </a:spcAft>
              <a:buSzPct val="100000"/>
              <a:buChar char="•"/>
            </a:pPr>
            <a:r>
              <a:rPr lang="en-US" sz="1350" dirty="0">
                <a:solidFill>
                  <a:srgbClr val="CADCFC"/>
                </a:solidFill>
                <a:latin typeface="Calibri" pitchFamily="34" charset="0"/>
                <a:ea typeface="Calibri" pitchFamily="34" charset="-122"/>
                <a:cs typeface="Calibri" pitchFamily="34" charset="-120"/>
              </a:rPr>
              <a:t>Kadirappagari Brahmisree  —  B.Tech, CSE</a:t>
            </a:r>
            <a:endParaRPr lang="en-US" sz="1350" dirty="0"/>
          </a:p>
          <a:p>
            <a:pPr marL="177800" indent="-177800">
              <a:spcAft>
                <a:spcPts val="500"/>
              </a:spcAft>
              <a:buSzPct val="100000"/>
              <a:buChar char="•"/>
            </a:pPr>
            <a:r>
              <a:rPr lang="en-US" sz="1350" dirty="0">
                <a:solidFill>
                  <a:srgbClr val="CADCFC"/>
                </a:solidFill>
                <a:latin typeface="Calibri" pitchFamily="34" charset="0"/>
                <a:ea typeface="Calibri" pitchFamily="34" charset="-122"/>
                <a:cs typeface="Calibri" pitchFamily="34" charset="-120"/>
              </a:rPr>
              <a:t>Thikmanik Nongrang  —  B.Tech, CSE</a:t>
            </a:r>
            <a:endParaRPr lang="en-US" sz="1350" dirty="0"/>
          </a:p>
          <a:p>
            <a:pPr marL="177800" indent="-177800">
              <a:spcAft>
                <a:spcPts val="500"/>
              </a:spcAft>
              <a:buSzPct val="100000"/>
              <a:buChar char="•"/>
            </a:pPr>
            <a:r>
              <a:rPr lang="en-US" sz="1350" dirty="0">
                <a:solidFill>
                  <a:srgbClr val="CADCFC"/>
                </a:solidFill>
                <a:latin typeface="Calibri" pitchFamily="34" charset="0"/>
                <a:ea typeface="Calibri" pitchFamily="34" charset="-122"/>
                <a:cs typeface="Calibri" pitchFamily="34" charset="-120"/>
              </a:rPr>
              <a:t>Yash Singh  —  B.Tech, Engineering Physics</a:t>
            </a:r>
            <a:endParaRPr lang="en-US" sz="1350" dirty="0"/>
          </a:p>
        </p:txBody>
      </p:sp>
      <p:sp>
        <p:nvSpPr>
          <p:cNvPr id="11" name="Shape 9"/>
          <p:cNvSpPr/>
          <p:nvPr/>
        </p:nvSpPr>
        <p:spPr>
          <a:xfrm>
            <a:off x="7772400" y="3200400"/>
            <a:ext cx="3566160" cy="2743200"/>
          </a:xfrm>
          <a:prstGeom prst="roundRect">
            <a:avLst>
              <a:gd name="adj" fmla="val 3000"/>
            </a:avLst>
          </a:prstGeom>
          <a:solidFill>
            <a:srgbClr val="1E2A5A"/>
          </a:solidFill>
          <a:ln/>
          <a:effectLst>
            <a:outerShdw sx="100000" sy="100000" kx="0" ky="0" algn="bl" rotWithShape="0" blurRad="101600" dist="38100" dir="5400000">
              <a:srgbClr val="000000">
                <a:alpha val="35000"/>
              </a:srgbClr>
            </a:outerShdw>
          </a:effectLst>
        </p:spPr>
      </p:sp>
      <p:sp>
        <p:nvSpPr>
          <p:cNvPr id="12" name="Text 10"/>
          <p:cNvSpPr txBox="1"/>
          <p:nvPr/>
        </p:nvSpPr>
        <p:spPr>
          <a:xfrm>
            <a:off x="8046720" y="3383280"/>
            <a:ext cx="3017520" cy="365760"/>
          </a:xfrm>
          <a:prstGeom prst="rect">
            <a:avLst/>
          </a:prstGeom>
          <a:noFill/>
          <a:ln/>
        </p:spPr>
        <p:txBody>
          <a:bodyPr wrap="square" lIns="0" tIns="0" rIns="0" bIns="0" rtlCol="0" anchor="ctr"/>
          <a:lstStyle/>
          <a:p>
            <a:pPr indent="0" marL="0">
              <a:buNone/>
            </a:pPr>
            <a:r>
              <a:rPr lang="en-US" sz="1300" b="1" spc="200" kern="0" dirty="0">
                <a:solidFill>
                  <a:srgbClr val="8C7BFF"/>
                </a:solidFill>
                <a:latin typeface="Calibri" pitchFamily="34" charset="0"/>
                <a:ea typeface="Calibri" pitchFamily="34" charset="-122"/>
                <a:cs typeface="Calibri" pitchFamily="34" charset="-120"/>
              </a:rPr>
              <a:t>Supervisor</a:t>
            </a:r>
            <a:endParaRPr lang="en-US" sz="1300" dirty="0"/>
          </a:p>
        </p:txBody>
      </p:sp>
      <p:sp>
        <p:nvSpPr>
          <p:cNvPr id="13" name="Text 11"/>
          <p:cNvSpPr txBox="1"/>
          <p:nvPr/>
        </p:nvSpPr>
        <p:spPr>
          <a:xfrm>
            <a:off x="8046720" y="3886200"/>
            <a:ext cx="3017520" cy="5486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Dr. Subhra Mazumdar</a:t>
            </a:r>
            <a:endParaRPr lang="en-US" sz="1900" dirty="0"/>
          </a:p>
        </p:txBody>
      </p:sp>
      <p:sp>
        <p:nvSpPr>
          <p:cNvPr id="14" name="Text 12"/>
          <p:cNvSpPr txBox="1"/>
          <p:nvPr/>
        </p:nvSpPr>
        <p:spPr>
          <a:xfrm>
            <a:off x="8046720" y="4572000"/>
            <a:ext cx="3017520" cy="914400"/>
          </a:xfrm>
          <a:prstGeom prst="rect">
            <a:avLst/>
          </a:prstGeom>
          <a:noFill/>
          <a:ln/>
        </p:spPr>
        <p:txBody>
          <a:bodyPr wrap="square" lIns="0" tIns="0" rIns="0" bIns="0" rtlCol="0" anchor="ctr"/>
          <a:lstStyle/>
          <a:p>
            <a:pPr indent="0" marL="0">
              <a:buNone/>
            </a:pPr>
            <a:r>
              <a:rPr lang="en-US" sz="1400" dirty="0">
                <a:solidFill>
                  <a:srgbClr val="8EA0C8"/>
                </a:solidFill>
                <a:latin typeface="Calibri" pitchFamily="34" charset="0"/>
                <a:ea typeface="Calibri" pitchFamily="34" charset="-122"/>
                <a:cs typeface="Calibri" pitchFamily="34" charset="-120"/>
              </a:rPr>
              <a:t>Dept. of CSE</a:t>
            </a:r>
            <a:endParaRPr lang="en-US" sz="1400" dirty="0"/>
          </a:p>
          <a:p>
            <a:pPr indent="0" marL="0">
              <a:buNone/>
            </a:pPr>
            <a:r>
              <a:rPr lang="en-US" sz="1400" dirty="0">
                <a:solidFill>
                  <a:srgbClr val="8EA0C8"/>
                </a:solidFill>
                <a:latin typeface="Calibri" pitchFamily="34" charset="0"/>
                <a:ea typeface="Calibri" pitchFamily="34" charset="-122"/>
                <a:cs typeface="Calibri" pitchFamily="34" charset="-120"/>
              </a:rPr>
              <a:t>IIT Indore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0B1437"/>
                </a:solidFill>
                <a:latin typeface="Cambria" pitchFamily="34" charset="0"/>
                <a:ea typeface="Cambria" pitchFamily="34" charset="-122"/>
                <a:cs typeface="Cambria" pitchFamily="34" charset="-120"/>
              </a:rPr>
              <a:t>Why smart-contract security matters</a:t>
            </a:r>
            <a:endParaRPr lang="en-US" sz="3400" dirty="0"/>
          </a:p>
        </p:txBody>
      </p:sp>
      <p:sp>
        <p:nvSpPr>
          <p:cNvPr id="3" name="Shape 1"/>
          <p:cNvSpPr/>
          <p:nvPr/>
        </p:nvSpPr>
        <p:spPr>
          <a:xfrm>
            <a:off x="640080" y="1554480"/>
            <a:ext cx="3566160" cy="3566160"/>
          </a:xfrm>
          <a:prstGeom prst="roundRect">
            <a:avLst>
              <a:gd name="adj" fmla="val 230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4" name="Shape 2"/>
          <p:cNvSpPr/>
          <p:nvPr/>
        </p:nvSpPr>
        <p:spPr>
          <a:xfrm>
            <a:off x="960120" y="1874520"/>
            <a:ext cx="685800" cy="685800"/>
          </a:xfrm>
          <a:prstGeom prst="ellipse">
            <a:avLst/>
          </a:prstGeom>
          <a:solidFill>
            <a:srgbClr val="8C7BFF"/>
          </a:solidFill>
          <a:ln/>
        </p:spPr>
      </p:sp>
      <p:sp>
        <p:nvSpPr>
          <p:cNvPr id="5" name="Text 3"/>
          <p:cNvSpPr txBox="1"/>
          <p:nvPr/>
        </p:nvSpPr>
        <p:spPr>
          <a:xfrm>
            <a:off x="960120" y="187452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6" name="Text 4"/>
          <p:cNvSpPr txBox="1"/>
          <p:nvPr/>
        </p:nvSpPr>
        <p:spPr>
          <a:xfrm>
            <a:off x="914400" y="2743200"/>
            <a:ext cx="3017520" cy="640080"/>
          </a:xfrm>
          <a:prstGeom prst="rect">
            <a:avLst/>
          </a:prstGeom>
          <a:noFill/>
          <a:ln/>
        </p:spPr>
        <p:txBody>
          <a:bodyPr wrap="square" lIns="0" tIns="0" rIns="0" bIns="0" rtlCol="0" anchor="ctr"/>
          <a:lstStyle/>
          <a:p>
            <a:pPr indent="0" marL="0">
              <a:buNone/>
            </a:pPr>
            <a:r>
              <a:rPr lang="en-US" sz="2000" b="1" dirty="0">
                <a:solidFill>
                  <a:srgbClr val="0B1437"/>
                </a:solidFill>
                <a:latin typeface="Cambria" pitchFamily="34" charset="0"/>
                <a:ea typeface="Cambria" pitchFamily="34" charset="-122"/>
                <a:cs typeface="Cambria" pitchFamily="34" charset="-120"/>
              </a:rPr>
              <a:t>Code that holds money</a:t>
            </a:r>
            <a:endParaRPr lang="en-US" sz="2000" dirty="0"/>
          </a:p>
        </p:txBody>
      </p:sp>
      <p:sp>
        <p:nvSpPr>
          <p:cNvPr id="7" name="Text 5"/>
          <p:cNvSpPr txBox="1"/>
          <p:nvPr/>
        </p:nvSpPr>
        <p:spPr>
          <a:xfrm>
            <a:off x="914400" y="3429000"/>
            <a:ext cx="3063240" cy="1463040"/>
          </a:xfrm>
          <a:prstGeom prst="rect">
            <a:avLst/>
          </a:prstGeom>
          <a:noFill/>
          <a:ln/>
        </p:spPr>
        <p:txBody>
          <a:bodyPr wrap="square" lIns="0" tIns="0" rIns="0" bIns="0" rtlCol="0" anchor="ctr"/>
          <a:lstStyle/>
          <a:p>
            <a:pPr indent="0" marL="0">
              <a:buNone/>
            </a:pPr>
            <a:r>
              <a:rPr lang="en-US" sz="1500" dirty="0">
                <a:solidFill>
                  <a:srgbClr val="47536F"/>
                </a:solidFill>
                <a:latin typeface="Calibri" pitchFamily="34" charset="0"/>
                <a:ea typeface="Calibri" pitchFamily="34" charset="-122"/>
                <a:cs typeface="Calibri" pitchFamily="34" charset="-120"/>
              </a:rPr>
              <a:t>Smart contracts run on Ethereum and directly control real funds — tokens, deposits, trades.</a:t>
            </a:r>
            <a:endParaRPr lang="en-US" sz="1500" dirty="0"/>
          </a:p>
        </p:txBody>
      </p:sp>
      <p:sp>
        <p:nvSpPr>
          <p:cNvPr id="8" name="Shape 6"/>
          <p:cNvSpPr/>
          <p:nvPr/>
        </p:nvSpPr>
        <p:spPr>
          <a:xfrm>
            <a:off x="4434840" y="1554480"/>
            <a:ext cx="3566160" cy="3566160"/>
          </a:xfrm>
          <a:prstGeom prst="roundRect">
            <a:avLst>
              <a:gd name="adj" fmla="val 230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9" name="Shape 7"/>
          <p:cNvSpPr/>
          <p:nvPr/>
        </p:nvSpPr>
        <p:spPr>
          <a:xfrm>
            <a:off x="4754880" y="1874520"/>
            <a:ext cx="685800" cy="685800"/>
          </a:xfrm>
          <a:prstGeom prst="ellipse">
            <a:avLst/>
          </a:prstGeom>
          <a:solidFill>
            <a:srgbClr val="FF7A85"/>
          </a:solidFill>
          <a:ln/>
        </p:spPr>
      </p:sp>
      <p:sp>
        <p:nvSpPr>
          <p:cNvPr id="10" name="Text 8"/>
          <p:cNvSpPr txBox="1"/>
          <p:nvPr/>
        </p:nvSpPr>
        <p:spPr>
          <a:xfrm>
            <a:off x="4754880" y="187452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11" name="Text 9"/>
          <p:cNvSpPr txBox="1"/>
          <p:nvPr/>
        </p:nvSpPr>
        <p:spPr>
          <a:xfrm>
            <a:off x="4709160" y="2743200"/>
            <a:ext cx="3017520" cy="640080"/>
          </a:xfrm>
          <a:prstGeom prst="rect">
            <a:avLst/>
          </a:prstGeom>
          <a:noFill/>
          <a:ln/>
        </p:spPr>
        <p:txBody>
          <a:bodyPr wrap="square" lIns="0" tIns="0" rIns="0" bIns="0" rtlCol="0" anchor="ctr"/>
          <a:lstStyle/>
          <a:p>
            <a:pPr indent="0" marL="0">
              <a:buNone/>
            </a:pPr>
            <a:r>
              <a:rPr lang="en-US" sz="2000" b="1" dirty="0">
                <a:solidFill>
                  <a:srgbClr val="0B1437"/>
                </a:solidFill>
                <a:latin typeface="Cambria" pitchFamily="34" charset="0"/>
                <a:ea typeface="Cambria" pitchFamily="34" charset="-122"/>
                <a:cs typeface="Cambria" pitchFamily="34" charset="-120"/>
              </a:rPr>
              <a:t>Bugs = real losses</a:t>
            </a:r>
            <a:endParaRPr lang="en-US" sz="2000" dirty="0"/>
          </a:p>
        </p:txBody>
      </p:sp>
      <p:sp>
        <p:nvSpPr>
          <p:cNvPr id="12" name="Text 10"/>
          <p:cNvSpPr txBox="1"/>
          <p:nvPr/>
        </p:nvSpPr>
        <p:spPr>
          <a:xfrm>
            <a:off x="4709160" y="3429000"/>
            <a:ext cx="3063240" cy="1463040"/>
          </a:xfrm>
          <a:prstGeom prst="rect">
            <a:avLst/>
          </a:prstGeom>
          <a:noFill/>
          <a:ln/>
        </p:spPr>
        <p:txBody>
          <a:bodyPr wrap="square" lIns="0" tIns="0" rIns="0" bIns="0" rtlCol="0" anchor="ctr"/>
          <a:lstStyle/>
          <a:p>
            <a:pPr indent="0" marL="0">
              <a:buNone/>
            </a:pPr>
            <a:r>
              <a:rPr lang="en-US" sz="1500" dirty="0">
                <a:solidFill>
                  <a:srgbClr val="47536F"/>
                </a:solidFill>
                <a:latin typeface="Calibri" pitchFamily="34" charset="0"/>
                <a:ea typeface="Calibri" pitchFamily="34" charset="-122"/>
                <a:cs typeface="Calibri" pitchFamily="34" charset="-120"/>
              </a:rPr>
              <a:t>A single flaw can let an attacker drain a contract. Famous hacks lost hundreds of millions.</a:t>
            </a:r>
            <a:endParaRPr lang="en-US" sz="1500" dirty="0"/>
          </a:p>
        </p:txBody>
      </p:sp>
      <p:sp>
        <p:nvSpPr>
          <p:cNvPr id="13" name="Shape 11"/>
          <p:cNvSpPr/>
          <p:nvPr/>
        </p:nvSpPr>
        <p:spPr>
          <a:xfrm>
            <a:off x="8229600" y="1554480"/>
            <a:ext cx="3566160" cy="3566160"/>
          </a:xfrm>
          <a:prstGeom prst="roundRect">
            <a:avLst>
              <a:gd name="adj" fmla="val 230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14" name="Shape 12"/>
          <p:cNvSpPr/>
          <p:nvPr/>
        </p:nvSpPr>
        <p:spPr>
          <a:xfrm>
            <a:off x="8549640" y="1874520"/>
            <a:ext cx="685800" cy="685800"/>
          </a:xfrm>
          <a:prstGeom prst="ellipse">
            <a:avLst/>
          </a:prstGeom>
          <a:solidFill>
            <a:srgbClr val="5FA8FF"/>
          </a:solidFill>
          <a:ln/>
        </p:spPr>
      </p:sp>
      <p:sp>
        <p:nvSpPr>
          <p:cNvPr id="15" name="Text 13"/>
          <p:cNvSpPr txBox="1"/>
          <p:nvPr/>
        </p:nvSpPr>
        <p:spPr>
          <a:xfrm>
            <a:off x="8549640" y="187452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16" name="Text 14"/>
          <p:cNvSpPr txBox="1"/>
          <p:nvPr/>
        </p:nvSpPr>
        <p:spPr>
          <a:xfrm>
            <a:off x="8503920" y="2743200"/>
            <a:ext cx="3017520" cy="640080"/>
          </a:xfrm>
          <a:prstGeom prst="rect">
            <a:avLst/>
          </a:prstGeom>
          <a:noFill/>
          <a:ln/>
        </p:spPr>
        <p:txBody>
          <a:bodyPr wrap="square" lIns="0" tIns="0" rIns="0" bIns="0" rtlCol="0" anchor="ctr"/>
          <a:lstStyle/>
          <a:p>
            <a:pPr indent="0" marL="0">
              <a:buNone/>
            </a:pPr>
            <a:r>
              <a:rPr lang="en-US" sz="2000" b="1" dirty="0">
                <a:solidFill>
                  <a:srgbClr val="0B1437"/>
                </a:solidFill>
                <a:latin typeface="Cambria" pitchFamily="34" charset="0"/>
                <a:ea typeface="Cambria" pitchFamily="34" charset="-122"/>
                <a:cs typeface="Cambria" pitchFamily="34" charset="-120"/>
              </a:rPr>
              <a:t>Tools find bugs automatically</a:t>
            </a:r>
            <a:endParaRPr lang="en-US" sz="2000" dirty="0"/>
          </a:p>
        </p:txBody>
      </p:sp>
      <p:sp>
        <p:nvSpPr>
          <p:cNvPr id="17" name="Text 15"/>
          <p:cNvSpPr txBox="1"/>
          <p:nvPr/>
        </p:nvSpPr>
        <p:spPr>
          <a:xfrm>
            <a:off x="8503920" y="3429000"/>
            <a:ext cx="3063240" cy="1463040"/>
          </a:xfrm>
          <a:prstGeom prst="rect">
            <a:avLst/>
          </a:prstGeom>
          <a:noFill/>
          <a:ln/>
        </p:spPr>
        <p:txBody>
          <a:bodyPr wrap="square" lIns="0" tIns="0" rIns="0" bIns="0" rtlCol="0" anchor="ctr"/>
          <a:lstStyle/>
          <a:p>
            <a:pPr indent="0" marL="0">
              <a:buNone/>
            </a:pPr>
            <a:r>
              <a:rPr lang="en-US" sz="1500" dirty="0">
                <a:solidFill>
                  <a:srgbClr val="47536F"/>
                </a:solidFill>
                <a:latin typeface="Calibri" pitchFamily="34" charset="0"/>
                <a:ea typeface="Calibri" pitchFamily="34" charset="-122"/>
                <a:cs typeface="Calibri" pitchFamily="34" charset="-120"/>
              </a:rPr>
              <a:t>Analysis tools scan a contract and report likely vulnerabilities before attackers do.</a:t>
            </a:r>
            <a:endParaRPr lang="en-US" sz="1500" dirty="0"/>
          </a:p>
        </p:txBody>
      </p:sp>
      <p:sp>
        <p:nvSpPr>
          <p:cNvPr id="18" name="Text 16"/>
          <p:cNvSpPr txBox="1"/>
          <p:nvPr/>
        </p:nvSpPr>
        <p:spPr>
          <a:xfrm>
            <a:off x="640080" y="5486400"/>
            <a:ext cx="10972800" cy="548640"/>
          </a:xfrm>
          <a:prstGeom prst="rect">
            <a:avLst/>
          </a:prstGeom>
          <a:noFill/>
          <a:ln/>
        </p:spPr>
        <p:txBody>
          <a:bodyPr wrap="square" lIns="0" tIns="0" rIns="0" bIns="0" rtlCol="0" anchor="ctr"/>
          <a:lstStyle/>
          <a:p>
            <a:pPr indent="0" marL="0">
              <a:buNone/>
            </a:pPr>
            <a:r>
              <a:rPr lang="en-US" sz="1800" b="1" i="1" dirty="0">
                <a:solidFill>
                  <a:srgbClr val="8C7BFF"/>
                </a:solidFill>
                <a:latin typeface="Calibri" pitchFamily="34" charset="0"/>
                <a:ea typeface="Calibri" pitchFamily="34" charset="-122"/>
                <a:cs typeface="Calibri" pitchFamily="34" charset="-120"/>
              </a:rPr>
              <a:t>Our question:  does hiding the source code help — or not?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37"/>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Step 1 — analysing contracts we can read</a:t>
            </a:r>
            <a:endParaRPr lang="en-US" sz="3200" dirty="0"/>
          </a:p>
        </p:txBody>
      </p:sp>
      <p:sp>
        <p:nvSpPr>
          <p:cNvPr id="3" name="Text 1"/>
          <p:cNvSpPr txBox="1"/>
          <p:nvPr/>
        </p:nvSpPr>
        <p:spPr>
          <a:xfrm>
            <a:off x="640080" y="1097280"/>
            <a:ext cx="1097280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We start with verified Solidity source collected from Etherscan, and run it through SmartBugs.</a:t>
            </a:r>
            <a:endParaRPr lang="en-US" sz="1600" dirty="0"/>
          </a:p>
        </p:txBody>
      </p:sp>
      <p:sp>
        <p:nvSpPr>
          <p:cNvPr id="4" name="Shape 2"/>
          <p:cNvSpPr/>
          <p:nvPr/>
        </p:nvSpPr>
        <p:spPr>
          <a:xfrm>
            <a:off x="640080" y="1783080"/>
            <a:ext cx="4114800" cy="4114800"/>
          </a:xfrm>
          <a:prstGeom prst="roundRect">
            <a:avLst>
              <a:gd name="adj" fmla="val 2000"/>
            </a:avLst>
          </a:prstGeom>
          <a:solidFill>
            <a:srgbClr val="141E47"/>
          </a:solidFill>
          <a:ln/>
          <a:effectLst>
            <a:outerShdw sx="100000" sy="100000" kx="0" ky="0" algn="bl" rotWithShape="0" blurRad="101600" dist="38100" dir="5400000">
              <a:srgbClr val="000000">
                <a:alpha val="35000"/>
              </a:srgbClr>
            </a:outerShdw>
          </a:effectLst>
        </p:spPr>
      </p:sp>
      <p:sp>
        <p:nvSpPr>
          <p:cNvPr id="5" name="Text 3"/>
          <p:cNvSpPr txBox="1"/>
          <p:nvPr/>
        </p:nvSpPr>
        <p:spPr>
          <a:xfrm>
            <a:off x="868680" y="1920240"/>
            <a:ext cx="3657600" cy="365760"/>
          </a:xfrm>
          <a:prstGeom prst="rect">
            <a:avLst/>
          </a:prstGeom>
          <a:noFill/>
          <a:ln/>
        </p:spPr>
        <p:txBody>
          <a:bodyPr wrap="square" lIns="0" tIns="0" rIns="0" bIns="0" rtlCol="0" anchor="ctr"/>
          <a:lstStyle/>
          <a:p>
            <a:pPr indent="0" marL="0">
              <a:buNone/>
            </a:pPr>
            <a:r>
              <a:rPr lang="en-US" sz="1300" b="1" spc="200" kern="0" dirty="0">
                <a:solidFill>
                  <a:srgbClr val="5FA8FF"/>
                </a:solidFill>
                <a:latin typeface="Calibri" pitchFamily="34" charset="0"/>
                <a:ea typeface="Calibri" pitchFamily="34" charset="-122"/>
                <a:cs typeface="Calibri" pitchFamily="34" charset="-120"/>
              </a:rPr>
              <a:t>The setup</a:t>
            </a:r>
            <a:endParaRPr lang="en-US" sz="1300" dirty="0"/>
          </a:p>
        </p:txBody>
      </p:sp>
      <p:sp>
        <p:nvSpPr>
          <p:cNvPr id="6" name="Text 4"/>
          <p:cNvSpPr txBox="1"/>
          <p:nvPr/>
        </p:nvSpPr>
        <p:spPr>
          <a:xfrm>
            <a:off x="914400" y="2377440"/>
            <a:ext cx="3657600" cy="182880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rgbClr val="CADCFC"/>
                </a:solidFill>
                <a:latin typeface="Calibri" pitchFamily="34" charset="0"/>
                <a:ea typeface="Calibri" pitchFamily="34" charset="-122"/>
                <a:cs typeface="Calibri" pitchFamily="34" charset="-120"/>
              </a:rPr>
              <a:t>Verified Solidity from Etherscan</a:t>
            </a:r>
            <a:endParaRPr lang="en-US" sz="1450" dirty="0"/>
          </a:p>
          <a:p>
            <a:pPr marL="342900" indent="-342900">
              <a:spcAft>
                <a:spcPts val="800"/>
              </a:spcAft>
              <a:buSzPct val="100000"/>
              <a:buChar char="•"/>
            </a:pPr>
            <a:r>
              <a:rPr lang="en-US" sz="1450" dirty="0">
                <a:solidFill>
                  <a:srgbClr val="CADCFC"/>
                </a:solidFill>
                <a:latin typeface="Calibri" pitchFamily="34" charset="0"/>
                <a:ea typeface="Calibri" pitchFamily="34" charset="-122"/>
                <a:cs typeface="Calibri" pitchFamily="34" charset="-120"/>
              </a:rPr>
              <a:t>SmartBugs orchestrates the tools</a:t>
            </a:r>
            <a:endParaRPr lang="en-US" sz="1450" dirty="0"/>
          </a:p>
          <a:p>
            <a:pPr marL="279400" indent="-279400">
              <a:spcAft>
                <a:spcPts val="800"/>
              </a:spcAft>
              <a:buSzPct val="100000"/>
              <a:buChar char="•"/>
            </a:pPr>
            <a:r>
              <a:rPr lang="en-US" sz="1200" i="1" dirty="0">
                <a:solidFill>
                  <a:srgbClr val="8EA0C8"/>
                </a:solidFill>
                <a:latin typeface="Calibri" pitchFamily="34" charset="0"/>
                <a:ea typeface="Calibri" pitchFamily="34" charset="-122"/>
                <a:cs typeface="Calibri" pitchFamily="34" charset="-120"/>
              </a:rPr>
              <a:t>(it runs the tools — it is not a detector itself)</a:t>
            </a:r>
            <a:endParaRPr lang="en-US" sz="1450" dirty="0"/>
          </a:p>
          <a:p>
            <a:pPr marL="342900" indent="-342900">
              <a:spcAft>
                <a:spcPts val="800"/>
              </a:spcAft>
              <a:buSzPct val="100000"/>
              <a:buChar char="•"/>
            </a:pPr>
            <a:r>
              <a:rPr lang="en-US" sz="1450" dirty="0">
                <a:solidFill>
                  <a:srgbClr val="CADCFC"/>
                </a:solidFill>
                <a:latin typeface="Calibri" pitchFamily="34" charset="0"/>
                <a:ea typeface="Calibri" pitchFamily="34" charset="-122"/>
                <a:cs typeface="Calibri" pitchFamily="34" charset="-120"/>
              </a:rPr>
              <a:t>Each tool outputs structured findings</a:t>
            </a:r>
            <a:endParaRPr lang="en-US" sz="1450" dirty="0"/>
          </a:p>
        </p:txBody>
      </p:sp>
      <p:sp>
        <p:nvSpPr>
          <p:cNvPr id="7" name="Text 5"/>
          <p:cNvSpPr txBox="1"/>
          <p:nvPr/>
        </p:nvSpPr>
        <p:spPr>
          <a:xfrm>
            <a:off x="868680" y="5486400"/>
            <a:ext cx="3749040" cy="365760"/>
          </a:xfrm>
          <a:prstGeom prst="rect">
            <a:avLst/>
          </a:prstGeom>
          <a:noFill/>
          <a:ln/>
        </p:spPr>
        <p:txBody>
          <a:bodyPr wrap="square" lIns="0" tIns="0" rIns="0" bIns="0" rtlCol="0" anchor="ctr"/>
          <a:lstStyle/>
          <a:p>
            <a:pPr indent="0" marL="0">
              <a:buNone/>
            </a:pPr>
            <a:r>
              <a:rPr lang="en-US" sz="1050" dirty="0">
                <a:solidFill>
                  <a:srgbClr val="8EA0C8"/>
                </a:solidFill>
                <a:latin typeface="Calibri" pitchFamily="34" charset="0"/>
                <a:ea typeface="Calibri" pitchFamily="34" charset="-122"/>
                <a:cs typeface="Calibri" pitchFamily="34" charset="-120"/>
              </a:rPr>
              <a:t>etherscan.io  ·  github.com/smartbugs/smartbugs</a:t>
            </a:r>
            <a:endParaRPr lang="en-US" sz="1050" dirty="0"/>
          </a:p>
        </p:txBody>
      </p:sp>
      <p:sp>
        <p:nvSpPr>
          <p:cNvPr id="8" name="Shape 6"/>
          <p:cNvSpPr/>
          <p:nvPr/>
        </p:nvSpPr>
        <p:spPr>
          <a:xfrm>
            <a:off x="5029200" y="1783080"/>
            <a:ext cx="6492240" cy="932688"/>
          </a:xfrm>
          <a:prstGeom prst="roundRect">
            <a:avLst>
              <a:gd name="adj" fmla="val 8824"/>
            </a:avLst>
          </a:prstGeom>
          <a:solidFill>
            <a:srgbClr val="1E2A5A"/>
          </a:solidFill>
          <a:ln/>
          <a:effectLst>
            <a:outerShdw sx="100000" sy="100000" kx="0" ky="0" algn="bl" rotWithShape="0" blurRad="101600" dist="38100" dir="5400000">
              <a:srgbClr val="000000">
                <a:alpha val="35000"/>
              </a:srgbClr>
            </a:outerShdw>
          </a:effectLst>
        </p:spPr>
      </p:sp>
      <p:sp>
        <p:nvSpPr>
          <p:cNvPr id="9" name="Shape 7"/>
          <p:cNvSpPr/>
          <p:nvPr/>
        </p:nvSpPr>
        <p:spPr>
          <a:xfrm>
            <a:off x="5257800" y="2020824"/>
            <a:ext cx="457200" cy="457200"/>
          </a:xfrm>
          <a:prstGeom prst="ellipse">
            <a:avLst/>
          </a:prstGeom>
          <a:solidFill>
            <a:srgbClr val="8C7BFF"/>
          </a:solidFill>
          <a:ln/>
        </p:spPr>
      </p:sp>
      <p:sp>
        <p:nvSpPr>
          <p:cNvPr id="10" name="Text 8"/>
          <p:cNvSpPr txBox="1"/>
          <p:nvPr/>
        </p:nvSpPr>
        <p:spPr>
          <a:xfrm>
            <a:off x="5852160" y="1892808"/>
            <a:ext cx="21945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Slither</a:t>
            </a:r>
            <a:endParaRPr lang="en-US" sz="1900" dirty="0"/>
          </a:p>
        </p:txBody>
      </p:sp>
      <p:sp>
        <p:nvSpPr>
          <p:cNvPr id="11" name="Text 9"/>
          <p:cNvSpPr txBox="1"/>
          <p:nvPr/>
        </p:nvSpPr>
        <p:spPr>
          <a:xfrm>
            <a:off x="7863840" y="1892808"/>
            <a:ext cx="3520440" cy="713232"/>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Static analysis — scans code for suspicious patterns</a:t>
            </a:r>
            <a:endParaRPr lang="en-US" sz="1350" dirty="0"/>
          </a:p>
        </p:txBody>
      </p:sp>
      <p:sp>
        <p:nvSpPr>
          <p:cNvPr id="12" name="Shape 10"/>
          <p:cNvSpPr/>
          <p:nvPr/>
        </p:nvSpPr>
        <p:spPr>
          <a:xfrm>
            <a:off x="5029200" y="2834640"/>
            <a:ext cx="6492240" cy="932688"/>
          </a:xfrm>
          <a:prstGeom prst="roundRect">
            <a:avLst>
              <a:gd name="adj" fmla="val 8824"/>
            </a:avLst>
          </a:prstGeom>
          <a:solidFill>
            <a:srgbClr val="1E2A5A"/>
          </a:solidFill>
          <a:ln/>
          <a:effectLst>
            <a:outerShdw sx="100000" sy="100000" kx="0" ky="0" algn="bl" rotWithShape="0" blurRad="101600" dist="38100" dir="5400000">
              <a:srgbClr val="000000">
                <a:alpha val="35000"/>
              </a:srgbClr>
            </a:outerShdw>
          </a:effectLst>
        </p:spPr>
      </p:sp>
      <p:sp>
        <p:nvSpPr>
          <p:cNvPr id="13" name="Shape 11"/>
          <p:cNvSpPr/>
          <p:nvPr/>
        </p:nvSpPr>
        <p:spPr>
          <a:xfrm>
            <a:off x="5257800" y="3072384"/>
            <a:ext cx="457200" cy="457200"/>
          </a:xfrm>
          <a:prstGeom prst="ellipse">
            <a:avLst/>
          </a:prstGeom>
          <a:solidFill>
            <a:srgbClr val="5FA8FF"/>
          </a:solidFill>
          <a:ln/>
        </p:spPr>
      </p:sp>
      <p:sp>
        <p:nvSpPr>
          <p:cNvPr id="14" name="Text 12"/>
          <p:cNvSpPr txBox="1"/>
          <p:nvPr/>
        </p:nvSpPr>
        <p:spPr>
          <a:xfrm>
            <a:off x="5852160" y="2944368"/>
            <a:ext cx="21945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Mythril</a:t>
            </a:r>
            <a:endParaRPr lang="en-US" sz="1900" dirty="0"/>
          </a:p>
        </p:txBody>
      </p:sp>
      <p:sp>
        <p:nvSpPr>
          <p:cNvPr id="15" name="Text 13"/>
          <p:cNvSpPr txBox="1"/>
          <p:nvPr/>
        </p:nvSpPr>
        <p:spPr>
          <a:xfrm>
            <a:off x="7863840" y="2944368"/>
            <a:ext cx="3520440" cy="713232"/>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Symbolic execution — explores possible execution paths</a:t>
            </a:r>
            <a:endParaRPr lang="en-US" sz="1350" dirty="0"/>
          </a:p>
        </p:txBody>
      </p:sp>
      <p:sp>
        <p:nvSpPr>
          <p:cNvPr id="16" name="Shape 14"/>
          <p:cNvSpPr/>
          <p:nvPr/>
        </p:nvSpPr>
        <p:spPr>
          <a:xfrm>
            <a:off x="5029200" y="3886200"/>
            <a:ext cx="6492240" cy="932688"/>
          </a:xfrm>
          <a:prstGeom prst="roundRect">
            <a:avLst>
              <a:gd name="adj" fmla="val 8824"/>
            </a:avLst>
          </a:prstGeom>
          <a:solidFill>
            <a:srgbClr val="1E2A5A"/>
          </a:solidFill>
          <a:ln/>
          <a:effectLst>
            <a:outerShdw sx="100000" sy="100000" kx="0" ky="0" algn="bl" rotWithShape="0" blurRad="101600" dist="38100" dir="5400000">
              <a:srgbClr val="000000">
                <a:alpha val="35000"/>
              </a:srgbClr>
            </a:outerShdw>
          </a:effectLst>
        </p:spPr>
      </p:sp>
      <p:sp>
        <p:nvSpPr>
          <p:cNvPr id="17" name="Shape 15"/>
          <p:cNvSpPr/>
          <p:nvPr/>
        </p:nvSpPr>
        <p:spPr>
          <a:xfrm>
            <a:off x="5257800" y="4123944"/>
            <a:ext cx="457200" cy="457200"/>
          </a:xfrm>
          <a:prstGeom prst="ellipse">
            <a:avLst/>
          </a:prstGeom>
          <a:solidFill>
            <a:srgbClr val="4ED6A1"/>
          </a:solidFill>
          <a:ln/>
        </p:spPr>
      </p:sp>
      <p:sp>
        <p:nvSpPr>
          <p:cNvPr id="18" name="Text 16"/>
          <p:cNvSpPr txBox="1"/>
          <p:nvPr/>
        </p:nvSpPr>
        <p:spPr>
          <a:xfrm>
            <a:off x="5852160" y="3995928"/>
            <a:ext cx="21945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Oyente</a:t>
            </a:r>
            <a:endParaRPr lang="en-US" sz="1900" dirty="0"/>
          </a:p>
        </p:txBody>
      </p:sp>
      <p:sp>
        <p:nvSpPr>
          <p:cNvPr id="19" name="Text 17"/>
          <p:cNvSpPr txBox="1"/>
          <p:nvPr/>
        </p:nvSpPr>
        <p:spPr>
          <a:xfrm>
            <a:off x="7863840" y="3995928"/>
            <a:ext cx="3520440" cy="713232"/>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Symbolic execution — classic Ethereum bug finder</a:t>
            </a:r>
            <a:endParaRPr lang="en-US" sz="1350" dirty="0"/>
          </a:p>
        </p:txBody>
      </p:sp>
      <p:sp>
        <p:nvSpPr>
          <p:cNvPr id="20" name="Shape 18"/>
          <p:cNvSpPr/>
          <p:nvPr/>
        </p:nvSpPr>
        <p:spPr>
          <a:xfrm>
            <a:off x="5029200" y="4937760"/>
            <a:ext cx="6492240" cy="932688"/>
          </a:xfrm>
          <a:prstGeom prst="roundRect">
            <a:avLst>
              <a:gd name="adj" fmla="val 8824"/>
            </a:avLst>
          </a:prstGeom>
          <a:solidFill>
            <a:srgbClr val="1E2A5A"/>
          </a:solidFill>
          <a:ln/>
          <a:effectLst>
            <a:outerShdw sx="100000" sy="100000" kx="0" ky="0" algn="bl" rotWithShape="0" blurRad="101600" dist="38100" dir="5400000">
              <a:srgbClr val="000000">
                <a:alpha val="35000"/>
              </a:srgbClr>
            </a:outerShdw>
          </a:effectLst>
        </p:spPr>
      </p:sp>
      <p:sp>
        <p:nvSpPr>
          <p:cNvPr id="21" name="Shape 19"/>
          <p:cNvSpPr/>
          <p:nvPr/>
        </p:nvSpPr>
        <p:spPr>
          <a:xfrm>
            <a:off x="5257800" y="5175504"/>
            <a:ext cx="457200" cy="457200"/>
          </a:xfrm>
          <a:prstGeom prst="ellipse">
            <a:avLst/>
          </a:prstGeom>
          <a:solidFill>
            <a:srgbClr val="F6C85F"/>
          </a:solidFill>
          <a:ln/>
        </p:spPr>
      </p:sp>
      <p:sp>
        <p:nvSpPr>
          <p:cNvPr id="22" name="Text 20"/>
          <p:cNvSpPr txBox="1"/>
          <p:nvPr/>
        </p:nvSpPr>
        <p:spPr>
          <a:xfrm>
            <a:off x="5852160" y="5047488"/>
            <a:ext cx="21945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Osiris</a:t>
            </a:r>
            <a:endParaRPr lang="en-US" sz="1900" dirty="0"/>
          </a:p>
        </p:txBody>
      </p:sp>
      <p:sp>
        <p:nvSpPr>
          <p:cNvPr id="23" name="Text 21"/>
          <p:cNvSpPr txBox="1"/>
          <p:nvPr/>
        </p:nvSpPr>
        <p:spPr>
          <a:xfrm>
            <a:off x="7863840" y="5047488"/>
            <a:ext cx="3520440" cy="713232"/>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Focused on integer-related bugs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0B1437"/>
                </a:solidFill>
                <a:latin typeface="Cambria" pitchFamily="34" charset="0"/>
                <a:ea typeface="Cambria" pitchFamily="34" charset="-122"/>
                <a:cs typeface="Cambria" pitchFamily="34" charset="-120"/>
              </a:rPr>
              <a:t>What the tools look for</a:t>
            </a:r>
            <a:endParaRPr lang="en-US" sz="3400" dirty="0"/>
          </a:p>
        </p:txBody>
      </p:sp>
      <p:sp>
        <p:nvSpPr>
          <p:cNvPr id="3" name="Text 1"/>
          <p:cNvSpPr txBox="1"/>
          <p:nvPr/>
        </p:nvSpPr>
        <p:spPr>
          <a:xfrm>
            <a:off x="640080" y="1143000"/>
            <a:ext cx="10972800" cy="457200"/>
          </a:xfrm>
          <a:prstGeom prst="rect">
            <a:avLst/>
          </a:prstGeom>
          <a:noFill/>
          <a:ln/>
        </p:spPr>
        <p:txBody>
          <a:bodyPr wrap="square" lIns="0" tIns="0" rIns="0" bIns="0" rtlCol="0" anchor="ctr"/>
          <a:lstStyle/>
          <a:p>
            <a:pPr indent="0" marL="0">
              <a:buNone/>
            </a:pPr>
            <a:r>
              <a:rPr lang="en-US" sz="1600" dirty="0">
                <a:solidFill>
                  <a:srgbClr val="47536F"/>
                </a:solidFill>
                <a:latin typeface="Calibri" pitchFamily="34" charset="0"/>
                <a:ea typeface="Calibri" pitchFamily="34" charset="-122"/>
                <a:cs typeface="Calibri" pitchFamily="34" charset="-120"/>
              </a:rPr>
              <a:t>Nine common classes of smart-contract vulnerability</a:t>
            </a:r>
            <a:endParaRPr lang="en-US" sz="1600" dirty="0"/>
          </a:p>
        </p:txBody>
      </p:sp>
      <p:sp>
        <p:nvSpPr>
          <p:cNvPr id="4" name="Shape 2"/>
          <p:cNvSpPr/>
          <p:nvPr/>
        </p:nvSpPr>
        <p:spPr>
          <a:xfrm>
            <a:off x="640080" y="1783080"/>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868680" y="2011680"/>
            <a:ext cx="274320" cy="274320"/>
          </a:xfrm>
          <a:prstGeom prst="ellipse">
            <a:avLst/>
          </a:prstGeom>
          <a:solidFill>
            <a:srgbClr val="8C7BFF"/>
          </a:solidFill>
          <a:ln/>
        </p:spPr>
      </p:sp>
      <p:sp>
        <p:nvSpPr>
          <p:cNvPr id="6" name="Text 4"/>
          <p:cNvSpPr txBox="1"/>
          <p:nvPr/>
        </p:nvSpPr>
        <p:spPr>
          <a:xfrm>
            <a:off x="86868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61872" y="1929384"/>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Reentrancy</a:t>
            </a:r>
            <a:endParaRPr lang="en-US" sz="1500" dirty="0"/>
          </a:p>
        </p:txBody>
      </p:sp>
      <p:sp>
        <p:nvSpPr>
          <p:cNvPr id="8" name="Text 6"/>
          <p:cNvSpPr txBox="1"/>
          <p:nvPr/>
        </p:nvSpPr>
        <p:spPr>
          <a:xfrm>
            <a:off x="1261872" y="2404872"/>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Attacker re-enters a function before it finishes</a:t>
            </a:r>
            <a:endParaRPr lang="en-US" sz="1150" dirty="0"/>
          </a:p>
        </p:txBody>
      </p:sp>
      <p:sp>
        <p:nvSpPr>
          <p:cNvPr id="9" name="Shape 7"/>
          <p:cNvSpPr/>
          <p:nvPr/>
        </p:nvSpPr>
        <p:spPr>
          <a:xfrm>
            <a:off x="4434840" y="1783080"/>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4663440" y="2011680"/>
            <a:ext cx="274320" cy="274320"/>
          </a:xfrm>
          <a:prstGeom prst="ellipse">
            <a:avLst/>
          </a:prstGeom>
          <a:solidFill>
            <a:srgbClr val="5FA8FF"/>
          </a:solidFill>
          <a:ln/>
        </p:spPr>
      </p:sp>
      <p:sp>
        <p:nvSpPr>
          <p:cNvPr id="11" name="Text 9"/>
          <p:cNvSpPr txBox="1"/>
          <p:nvPr/>
        </p:nvSpPr>
        <p:spPr>
          <a:xfrm>
            <a:off x="466344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5056632" y="1929384"/>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Integer overflow / underflow</a:t>
            </a:r>
            <a:endParaRPr lang="en-US" sz="1500" dirty="0"/>
          </a:p>
        </p:txBody>
      </p:sp>
      <p:sp>
        <p:nvSpPr>
          <p:cNvPr id="13" name="Text 11"/>
          <p:cNvSpPr txBox="1"/>
          <p:nvPr/>
        </p:nvSpPr>
        <p:spPr>
          <a:xfrm>
            <a:off x="5056632" y="2404872"/>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Numbers wrap around past their limits</a:t>
            </a:r>
            <a:endParaRPr lang="en-US" sz="1150" dirty="0"/>
          </a:p>
        </p:txBody>
      </p:sp>
      <p:sp>
        <p:nvSpPr>
          <p:cNvPr id="14" name="Shape 12"/>
          <p:cNvSpPr/>
          <p:nvPr/>
        </p:nvSpPr>
        <p:spPr>
          <a:xfrm>
            <a:off x="8229600" y="1783080"/>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15" name="Shape 13"/>
          <p:cNvSpPr/>
          <p:nvPr/>
        </p:nvSpPr>
        <p:spPr>
          <a:xfrm>
            <a:off x="8458200" y="2011680"/>
            <a:ext cx="274320" cy="274320"/>
          </a:xfrm>
          <a:prstGeom prst="ellipse">
            <a:avLst/>
          </a:prstGeom>
          <a:solidFill>
            <a:srgbClr val="4ED6A1"/>
          </a:solidFill>
          <a:ln/>
        </p:spPr>
      </p:sp>
      <p:sp>
        <p:nvSpPr>
          <p:cNvPr id="16" name="Text 14"/>
          <p:cNvSpPr txBox="1"/>
          <p:nvPr/>
        </p:nvSpPr>
        <p:spPr>
          <a:xfrm>
            <a:off x="845820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851392" y="1929384"/>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Unchecked external calls</a:t>
            </a:r>
            <a:endParaRPr lang="en-US" sz="1500" dirty="0"/>
          </a:p>
        </p:txBody>
      </p:sp>
      <p:sp>
        <p:nvSpPr>
          <p:cNvPr id="18" name="Text 16"/>
          <p:cNvSpPr txBox="1"/>
          <p:nvPr/>
        </p:nvSpPr>
        <p:spPr>
          <a:xfrm>
            <a:off x="8851392" y="2404872"/>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Return value of a call is ignored</a:t>
            </a:r>
            <a:endParaRPr lang="en-US" sz="1150" dirty="0"/>
          </a:p>
        </p:txBody>
      </p:sp>
      <p:sp>
        <p:nvSpPr>
          <p:cNvPr id="19" name="Shape 17"/>
          <p:cNvSpPr/>
          <p:nvPr/>
        </p:nvSpPr>
        <p:spPr>
          <a:xfrm>
            <a:off x="640080" y="3264408"/>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20" name="Shape 18"/>
          <p:cNvSpPr/>
          <p:nvPr/>
        </p:nvSpPr>
        <p:spPr>
          <a:xfrm>
            <a:off x="868680" y="3493008"/>
            <a:ext cx="274320" cy="274320"/>
          </a:xfrm>
          <a:prstGeom prst="ellipse">
            <a:avLst/>
          </a:prstGeom>
          <a:solidFill>
            <a:srgbClr val="FF7A85"/>
          </a:solidFill>
          <a:ln/>
        </p:spPr>
      </p:sp>
      <p:sp>
        <p:nvSpPr>
          <p:cNvPr id="21" name="Text 19"/>
          <p:cNvSpPr txBox="1"/>
          <p:nvPr/>
        </p:nvSpPr>
        <p:spPr>
          <a:xfrm>
            <a:off x="868680" y="34930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261872" y="3410712"/>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Denial of service</a:t>
            </a:r>
            <a:endParaRPr lang="en-US" sz="1500" dirty="0"/>
          </a:p>
        </p:txBody>
      </p:sp>
      <p:sp>
        <p:nvSpPr>
          <p:cNvPr id="23" name="Text 21"/>
          <p:cNvSpPr txBox="1"/>
          <p:nvPr/>
        </p:nvSpPr>
        <p:spPr>
          <a:xfrm>
            <a:off x="1261872" y="3886200"/>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Contract can be made stuck or unusable</a:t>
            </a:r>
            <a:endParaRPr lang="en-US" sz="1150" dirty="0"/>
          </a:p>
        </p:txBody>
      </p:sp>
      <p:sp>
        <p:nvSpPr>
          <p:cNvPr id="24" name="Shape 22"/>
          <p:cNvSpPr/>
          <p:nvPr/>
        </p:nvSpPr>
        <p:spPr>
          <a:xfrm>
            <a:off x="4434840" y="3264408"/>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25" name="Shape 23"/>
          <p:cNvSpPr/>
          <p:nvPr/>
        </p:nvSpPr>
        <p:spPr>
          <a:xfrm>
            <a:off x="4663440" y="3493008"/>
            <a:ext cx="274320" cy="274320"/>
          </a:xfrm>
          <a:prstGeom prst="ellipse">
            <a:avLst/>
          </a:prstGeom>
          <a:solidFill>
            <a:srgbClr val="F6C85F"/>
          </a:solidFill>
          <a:ln/>
        </p:spPr>
      </p:sp>
      <p:sp>
        <p:nvSpPr>
          <p:cNvPr id="26" name="Text 24"/>
          <p:cNvSpPr txBox="1"/>
          <p:nvPr/>
        </p:nvSpPr>
        <p:spPr>
          <a:xfrm>
            <a:off x="4663440" y="34930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5056632" y="3410712"/>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Transaction-ordering dependence</a:t>
            </a:r>
            <a:endParaRPr lang="en-US" sz="1500" dirty="0"/>
          </a:p>
        </p:txBody>
      </p:sp>
      <p:sp>
        <p:nvSpPr>
          <p:cNvPr id="28" name="Text 26"/>
          <p:cNvSpPr txBox="1"/>
          <p:nvPr/>
        </p:nvSpPr>
        <p:spPr>
          <a:xfrm>
            <a:off x="5056632" y="3886200"/>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Result depends on tx ordering (front-running)</a:t>
            </a:r>
            <a:endParaRPr lang="en-US" sz="1150" dirty="0"/>
          </a:p>
        </p:txBody>
      </p:sp>
      <p:sp>
        <p:nvSpPr>
          <p:cNvPr id="29" name="Shape 27"/>
          <p:cNvSpPr/>
          <p:nvPr/>
        </p:nvSpPr>
        <p:spPr>
          <a:xfrm>
            <a:off x="8229600" y="3264408"/>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30" name="Shape 28"/>
          <p:cNvSpPr/>
          <p:nvPr/>
        </p:nvSpPr>
        <p:spPr>
          <a:xfrm>
            <a:off x="8458200" y="3493008"/>
            <a:ext cx="274320" cy="274320"/>
          </a:xfrm>
          <a:prstGeom prst="ellipse">
            <a:avLst/>
          </a:prstGeom>
          <a:solidFill>
            <a:srgbClr val="8C7BFF"/>
          </a:solidFill>
          <a:ln/>
        </p:spPr>
      </p:sp>
      <p:sp>
        <p:nvSpPr>
          <p:cNvPr id="31" name="Text 29"/>
          <p:cNvSpPr txBox="1"/>
          <p:nvPr/>
        </p:nvSpPr>
        <p:spPr>
          <a:xfrm>
            <a:off x="8458200" y="34930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8851392" y="3410712"/>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Timestamp dependence</a:t>
            </a:r>
            <a:endParaRPr lang="en-US" sz="1500" dirty="0"/>
          </a:p>
        </p:txBody>
      </p:sp>
      <p:sp>
        <p:nvSpPr>
          <p:cNvPr id="33" name="Text 31"/>
          <p:cNvSpPr txBox="1"/>
          <p:nvPr/>
        </p:nvSpPr>
        <p:spPr>
          <a:xfrm>
            <a:off x="8851392" y="3886200"/>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Logic relies on manipulable block time</a:t>
            </a:r>
            <a:endParaRPr lang="en-US" sz="1150" dirty="0"/>
          </a:p>
        </p:txBody>
      </p:sp>
      <p:sp>
        <p:nvSpPr>
          <p:cNvPr id="34" name="Shape 32"/>
          <p:cNvSpPr/>
          <p:nvPr/>
        </p:nvSpPr>
        <p:spPr>
          <a:xfrm>
            <a:off x="640080" y="4745736"/>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35" name="Shape 33"/>
          <p:cNvSpPr/>
          <p:nvPr/>
        </p:nvSpPr>
        <p:spPr>
          <a:xfrm>
            <a:off x="868680" y="4974336"/>
            <a:ext cx="274320" cy="274320"/>
          </a:xfrm>
          <a:prstGeom prst="ellipse">
            <a:avLst/>
          </a:prstGeom>
          <a:solidFill>
            <a:srgbClr val="5FA8FF"/>
          </a:solidFill>
          <a:ln/>
        </p:spPr>
      </p:sp>
      <p:sp>
        <p:nvSpPr>
          <p:cNvPr id="36" name="Text 34"/>
          <p:cNvSpPr txBox="1"/>
          <p:nvPr/>
        </p:nvSpPr>
        <p:spPr>
          <a:xfrm>
            <a:off x="868680" y="49743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txBox="1"/>
          <p:nvPr/>
        </p:nvSpPr>
        <p:spPr>
          <a:xfrm>
            <a:off x="1261872" y="4892040"/>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Access-control problems</a:t>
            </a:r>
            <a:endParaRPr lang="en-US" sz="1500" dirty="0"/>
          </a:p>
        </p:txBody>
      </p:sp>
      <p:sp>
        <p:nvSpPr>
          <p:cNvPr id="38" name="Text 36"/>
          <p:cNvSpPr txBox="1"/>
          <p:nvPr/>
        </p:nvSpPr>
        <p:spPr>
          <a:xfrm>
            <a:off x="1261872" y="5367528"/>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Sensitive actions left unprotected</a:t>
            </a:r>
            <a:endParaRPr lang="en-US" sz="1150" dirty="0"/>
          </a:p>
        </p:txBody>
      </p:sp>
      <p:sp>
        <p:nvSpPr>
          <p:cNvPr id="39" name="Shape 37"/>
          <p:cNvSpPr/>
          <p:nvPr/>
        </p:nvSpPr>
        <p:spPr>
          <a:xfrm>
            <a:off x="4434840" y="4745736"/>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40" name="Shape 38"/>
          <p:cNvSpPr/>
          <p:nvPr/>
        </p:nvSpPr>
        <p:spPr>
          <a:xfrm>
            <a:off x="4663440" y="4974336"/>
            <a:ext cx="274320" cy="274320"/>
          </a:xfrm>
          <a:prstGeom prst="ellipse">
            <a:avLst/>
          </a:prstGeom>
          <a:solidFill>
            <a:srgbClr val="4ED6A1"/>
          </a:solidFill>
          <a:ln/>
        </p:spPr>
      </p:sp>
      <p:sp>
        <p:nvSpPr>
          <p:cNvPr id="41" name="Text 39"/>
          <p:cNvSpPr txBox="1"/>
          <p:nvPr/>
        </p:nvSpPr>
        <p:spPr>
          <a:xfrm>
            <a:off x="4663440" y="49743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txBox="1"/>
          <p:nvPr/>
        </p:nvSpPr>
        <p:spPr>
          <a:xfrm>
            <a:off x="5056632" y="4892040"/>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Unsafe delegatecall</a:t>
            </a:r>
            <a:endParaRPr lang="en-US" sz="1500" dirty="0"/>
          </a:p>
        </p:txBody>
      </p:sp>
      <p:sp>
        <p:nvSpPr>
          <p:cNvPr id="43" name="Text 41"/>
          <p:cNvSpPr txBox="1"/>
          <p:nvPr/>
        </p:nvSpPr>
        <p:spPr>
          <a:xfrm>
            <a:off x="5056632" y="5367528"/>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Calling untrusted code with your own storage</a:t>
            </a:r>
            <a:endParaRPr lang="en-US" sz="1150" dirty="0"/>
          </a:p>
        </p:txBody>
      </p:sp>
      <p:sp>
        <p:nvSpPr>
          <p:cNvPr id="44" name="Shape 42"/>
          <p:cNvSpPr/>
          <p:nvPr/>
        </p:nvSpPr>
        <p:spPr>
          <a:xfrm>
            <a:off x="8229600" y="4745736"/>
            <a:ext cx="3566160" cy="1298448"/>
          </a:xfrm>
          <a:prstGeom prst="roundRect">
            <a:avLst>
              <a:gd name="adj" fmla="val 6338"/>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45" name="Shape 43"/>
          <p:cNvSpPr/>
          <p:nvPr/>
        </p:nvSpPr>
        <p:spPr>
          <a:xfrm>
            <a:off x="8458200" y="4974336"/>
            <a:ext cx="274320" cy="274320"/>
          </a:xfrm>
          <a:prstGeom prst="ellipse">
            <a:avLst/>
          </a:prstGeom>
          <a:solidFill>
            <a:srgbClr val="FF7A85"/>
          </a:solidFill>
          <a:ln/>
        </p:spPr>
      </p:sp>
      <p:sp>
        <p:nvSpPr>
          <p:cNvPr id="46" name="Text 44"/>
          <p:cNvSpPr txBox="1"/>
          <p:nvPr/>
        </p:nvSpPr>
        <p:spPr>
          <a:xfrm>
            <a:off x="8458200" y="49743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7" name="Text 45"/>
          <p:cNvSpPr txBox="1"/>
          <p:nvPr/>
        </p:nvSpPr>
        <p:spPr>
          <a:xfrm>
            <a:off x="8851392" y="4892040"/>
            <a:ext cx="2834640" cy="502920"/>
          </a:xfrm>
          <a:prstGeom prst="rect">
            <a:avLst/>
          </a:prstGeom>
          <a:noFill/>
          <a:ln/>
        </p:spPr>
        <p:txBody>
          <a:bodyPr wrap="square" lIns="0" tIns="0" rIns="0" bIns="0" rtlCol="0" anchor="ctr"/>
          <a:lstStyle/>
          <a:p>
            <a:pPr indent="0" marL="0">
              <a:buNone/>
            </a:pPr>
            <a:r>
              <a:rPr lang="en-US" sz="1500" b="1" dirty="0">
                <a:solidFill>
                  <a:srgbClr val="0B1437"/>
                </a:solidFill>
                <a:latin typeface="Cambria" pitchFamily="34" charset="0"/>
                <a:ea typeface="Cambria" pitchFamily="34" charset="-122"/>
                <a:cs typeface="Cambria" pitchFamily="34" charset="-120"/>
              </a:rPr>
              <a:t>Frozen ether</a:t>
            </a:r>
            <a:endParaRPr lang="en-US" sz="1500" dirty="0"/>
          </a:p>
        </p:txBody>
      </p:sp>
      <p:sp>
        <p:nvSpPr>
          <p:cNvPr id="48" name="Text 46"/>
          <p:cNvSpPr txBox="1"/>
          <p:nvPr/>
        </p:nvSpPr>
        <p:spPr>
          <a:xfrm>
            <a:off x="8851392" y="5367528"/>
            <a:ext cx="2834640" cy="594360"/>
          </a:xfrm>
          <a:prstGeom prst="rect">
            <a:avLst/>
          </a:prstGeom>
          <a:noFill/>
          <a:ln/>
        </p:spPr>
        <p:txBody>
          <a:bodyPr wrap="square" lIns="0" tIns="0" rIns="0" bIns="0" rtlCol="0" anchor="ctr"/>
          <a:lstStyle/>
          <a:p>
            <a:pPr indent="0" marL="0">
              <a:buNone/>
            </a:pPr>
            <a:r>
              <a:rPr lang="en-US" sz="1150" dirty="0">
                <a:solidFill>
                  <a:srgbClr val="5B6B8C"/>
                </a:solidFill>
                <a:latin typeface="Calibri" pitchFamily="34" charset="0"/>
                <a:ea typeface="Calibri" pitchFamily="34" charset="-122"/>
                <a:cs typeface="Calibri" pitchFamily="34" charset="-120"/>
              </a:rPr>
              <a:t>Funds can get permanently locked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437"/>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Step 2 — what if we hide the source?</a:t>
            </a:r>
            <a:endParaRPr lang="en-US" sz="3200" dirty="0"/>
          </a:p>
        </p:txBody>
      </p:sp>
      <p:sp>
        <p:nvSpPr>
          <p:cNvPr id="3" name="Text 1"/>
          <p:cNvSpPr txBox="1"/>
          <p:nvPr/>
        </p:nvSpPr>
        <p:spPr>
          <a:xfrm>
            <a:off x="640080" y="1097280"/>
            <a:ext cx="10972800" cy="502920"/>
          </a:xfrm>
          <a:prstGeom prst="rect">
            <a:avLst/>
          </a:prstGeom>
          <a:noFill/>
          <a:ln/>
        </p:spPr>
        <p:txBody>
          <a:bodyPr wrap="square" lIns="0" tIns="0" rIns="0" bIns="0" rtlCol="0" anchor="ctr"/>
          <a:lstStyle/>
          <a:p>
            <a:pPr indent="0" marL="0">
              <a:buNone/>
            </a:pPr>
            <a:r>
              <a:rPr lang="en-US" sz="1550" dirty="0">
                <a:solidFill>
                  <a:srgbClr val="CADCFC"/>
                </a:solidFill>
                <a:latin typeface="Calibri" pitchFamily="34" charset="0"/>
                <a:ea typeface="Calibri" pitchFamily="34" charset="-122"/>
                <a:cs typeface="Calibri" pitchFamily="34" charset="-120"/>
              </a:rPr>
              <a:t>We obfuscate each contract with BiAn — renaming, removing whitespace, restructuring — then re-run the same tools.</a:t>
            </a:r>
            <a:endParaRPr lang="en-US" sz="1550" dirty="0"/>
          </a:p>
        </p:txBody>
      </p:sp>
      <p:sp>
        <p:nvSpPr>
          <p:cNvPr id="4" name="Shape 2"/>
          <p:cNvSpPr/>
          <p:nvPr/>
        </p:nvSpPr>
        <p:spPr>
          <a:xfrm>
            <a:off x="640080" y="1828800"/>
            <a:ext cx="5029200" cy="2926080"/>
          </a:xfrm>
          <a:prstGeom prst="roundRect">
            <a:avLst>
              <a:gd name="adj" fmla="val 2813"/>
            </a:avLst>
          </a:prstGeom>
          <a:solidFill>
            <a:srgbClr val="141E47"/>
          </a:solidFill>
          <a:ln/>
          <a:effectLst>
            <a:outerShdw sx="100000" sy="100000" kx="0" ky="0" algn="bl" rotWithShape="0" blurRad="101600" dist="38100" dir="5400000">
              <a:srgbClr val="000000">
                <a:alpha val="35000"/>
              </a:srgbClr>
            </a:outerShdw>
          </a:effectLst>
        </p:spPr>
      </p:sp>
      <p:sp>
        <p:nvSpPr>
          <p:cNvPr id="5" name="Text 3"/>
          <p:cNvSpPr txBox="1"/>
          <p:nvPr/>
        </p:nvSpPr>
        <p:spPr>
          <a:xfrm>
            <a:off x="868680" y="1965960"/>
            <a:ext cx="4572000" cy="365760"/>
          </a:xfrm>
          <a:prstGeom prst="rect">
            <a:avLst/>
          </a:prstGeom>
          <a:noFill/>
          <a:ln/>
        </p:spPr>
        <p:txBody>
          <a:bodyPr wrap="square" lIns="0" tIns="0" rIns="0" bIns="0" rtlCol="0" anchor="ctr"/>
          <a:lstStyle/>
          <a:p>
            <a:pPr indent="0" marL="0">
              <a:buNone/>
            </a:pPr>
            <a:r>
              <a:rPr lang="en-US" sz="1200" b="1" spc="200" kern="0" dirty="0">
                <a:solidFill>
                  <a:srgbClr val="4ED6A1"/>
                </a:solidFill>
                <a:latin typeface="Calibri" pitchFamily="34" charset="0"/>
                <a:ea typeface="Calibri" pitchFamily="34" charset="-122"/>
                <a:cs typeface="Calibri" pitchFamily="34" charset="-120"/>
              </a:rPr>
              <a:t>Readable source</a:t>
            </a:r>
            <a:endParaRPr lang="en-US" sz="1200" dirty="0"/>
          </a:p>
        </p:txBody>
      </p:sp>
      <p:sp>
        <p:nvSpPr>
          <p:cNvPr id="6" name="Text 4"/>
          <p:cNvSpPr txBox="1"/>
          <p:nvPr/>
        </p:nvSpPr>
        <p:spPr>
          <a:xfrm>
            <a:off x="868680" y="2331720"/>
            <a:ext cx="4754880" cy="228600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function withdraw(uint amount) public {</a:t>
            </a:r>
            <a:endParaRPr lang="en-US" sz="1250" dirty="0"/>
          </a:p>
          <a:p>
            <a:pPr indent="0" marL="0">
              <a:buNone/>
            </a:pPr>
            <a:r>
              <a:rPr lang="en-US" sz="1250" dirty="0">
                <a:solidFill>
                  <a:srgbClr val="CADCFC"/>
                </a:solidFill>
                <a:latin typeface="Courier New" pitchFamily="34" charset="0"/>
                <a:ea typeface="Courier New" pitchFamily="34" charset="-122"/>
                <a:cs typeface="Courier New" pitchFamily="34" charset="-120"/>
              </a:rPr>
              <a:t>    require(balance[msg.sender] &gt;= amount);</a:t>
            </a:r>
            <a:endParaRPr lang="en-US" sz="1250" dirty="0"/>
          </a:p>
          <a:p>
            <a:pPr indent="0" marL="0">
              <a:buNone/>
            </a:pPr>
            <a:r>
              <a:rPr lang="en-US" sz="1250" dirty="0">
                <a:solidFill>
                  <a:srgbClr val="CADCFC"/>
                </a:solidFill>
                <a:latin typeface="Courier New" pitchFamily="34" charset="0"/>
                <a:ea typeface="Courier New" pitchFamily="34" charset="-122"/>
                <a:cs typeface="Courier New" pitchFamily="34" charset="-120"/>
              </a:rPr>
              <a:t>    balance[msg.sender] -= amount;</a:t>
            </a:r>
            <a:endParaRPr lang="en-US" sz="1250" dirty="0"/>
          </a:p>
          <a:p>
            <a:pPr indent="0" marL="0">
              <a:buNone/>
            </a:pPr>
            <a:r>
              <a:rPr lang="en-US" sz="1250" dirty="0">
                <a:solidFill>
                  <a:srgbClr val="CADCFC"/>
                </a:solidFill>
                <a:latin typeface="Courier New" pitchFamily="34" charset="0"/>
                <a:ea typeface="Courier New" pitchFamily="34" charset="-122"/>
                <a:cs typeface="Courier New" pitchFamily="34" charset="-120"/>
              </a:rPr>
              <a:t>    msg.sender.transfer(amount);</a:t>
            </a:r>
            <a:endParaRPr lang="en-US" sz="1250" dirty="0"/>
          </a:p>
          <a:p>
            <a:pPr indent="0" marL="0">
              <a:buNone/>
            </a:pPr>
            <a:r>
              <a:rPr lang="en-US" sz="1250" dirty="0">
                <a:solidFill>
                  <a:srgbClr val="CADCFC"/>
                </a:solidFill>
                <a:latin typeface="Courier New" pitchFamily="34" charset="0"/>
                <a:ea typeface="Courier New" pitchFamily="34" charset="-122"/>
                <a:cs typeface="Courier New" pitchFamily="34" charset="-120"/>
              </a:rPr>
              <a:t>}</a:t>
            </a:r>
            <a:endParaRPr lang="en-US" sz="1250" dirty="0"/>
          </a:p>
        </p:txBody>
      </p:sp>
      <p:sp>
        <p:nvSpPr>
          <p:cNvPr id="7" name="Shape 5"/>
          <p:cNvSpPr/>
          <p:nvPr/>
        </p:nvSpPr>
        <p:spPr>
          <a:xfrm>
            <a:off x="5742432" y="2880360"/>
            <a:ext cx="822960" cy="822960"/>
          </a:xfrm>
          <a:prstGeom prst="ellipse">
            <a:avLst/>
          </a:prstGeom>
          <a:solidFill>
            <a:srgbClr val="8C7BFF"/>
          </a:solidFill>
          <a:ln/>
        </p:spPr>
      </p:sp>
      <p:sp>
        <p:nvSpPr>
          <p:cNvPr id="8" name="Text 6"/>
          <p:cNvSpPr txBox="1"/>
          <p:nvPr/>
        </p:nvSpPr>
        <p:spPr>
          <a:xfrm>
            <a:off x="5742432" y="2880360"/>
            <a:ext cx="82296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BiAn</a:t>
            </a:r>
            <a:endParaRPr lang="en-US" sz="1200" dirty="0"/>
          </a:p>
        </p:txBody>
      </p:sp>
      <p:sp>
        <p:nvSpPr>
          <p:cNvPr id="9" name="Shape 7"/>
          <p:cNvSpPr/>
          <p:nvPr/>
        </p:nvSpPr>
        <p:spPr>
          <a:xfrm>
            <a:off x="6400800" y="1828800"/>
            <a:ext cx="5120640" cy="2926080"/>
          </a:xfrm>
          <a:prstGeom prst="roundRect">
            <a:avLst>
              <a:gd name="adj" fmla="val 2813"/>
            </a:avLst>
          </a:prstGeom>
          <a:solidFill>
            <a:srgbClr val="1E2A5A"/>
          </a:solidFill>
          <a:ln/>
          <a:effectLst>
            <a:outerShdw sx="100000" sy="100000" kx="0" ky="0" algn="bl" rotWithShape="0" blurRad="101600" dist="38100" dir="5400000">
              <a:srgbClr val="000000">
                <a:alpha val="35000"/>
              </a:srgbClr>
            </a:outerShdw>
          </a:effectLst>
        </p:spPr>
      </p:sp>
      <p:sp>
        <p:nvSpPr>
          <p:cNvPr id="10" name="Text 8"/>
          <p:cNvSpPr txBox="1"/>
          <p:nvPr/>
        </p:nvSpPr>
        <p:spPr>
          <a:xfrm>
            <a:off x="6629400" y="1965960"/>
            <a:ext cx="4572000" cy="365760"/>
          </a:xfrm>
          <a:prstGeom prst="rect">
            <a:avLst/>
          </a:prstGeom>
          <a:noFill/>
          <a:ln/>
        </p:spPr>
        <p:txBody>
          <a:bodyPr wrap="square" lIns="0" tIns="0" rIns="0" bIns="0" rtlCol="0" anchor="ctr"/>
          <a:lstStyle/>
          <a:p>
            <a:pPr indent="0" marL="0">
              <a:buNone/>
            </a:pPr>
            <a:r>
              <a:rPr lang="en-US" sz="1200" b="1" spc="200" kern="0" dirty="0">
                <a:solidFill>
                  <a:srgbClr val="FF7A85"/>
                </a:solidFill>
                <a:latin typeface="Calibri" pitchFamily="34" charset="0"/>
                <a:ea typeface="Calibri" pitchFamily="34" charset="-122"/>
                <a:cs typeface="Calibri" pitchFamily="34" charset="-120"/>
              </a:rPr>
              <a:t>Obfuscated source</a:t>
            </a:r>
            <a:endParaRPr lang="en-US" sz="1200" dirty="0"/>
          </a:p>
        </p:txBody>
      </p:sp>
      <p:sp>
        <p:nvSpPr>
          <p:cNvPr id="11" name="Text 9"/>
          <p:cNvSpPr txBox="1"/>
          <p:nvPr/>
        </p:nvSpPr>
        <p:spPr>
          <a:xfrm>
            <a:off x="6629400" y="2331720"/>
            <a:ext cx="4709160" cy="2286000"/>
          </a:xfrm>
          <a:prstGeom prst="rect">
            <a:avLst/>
          </a:prstGeom>
          <a:noFill/>
          <a:ln/>
        </p:spPr>
        <p:txBody>
          <a:bodyPr wrap="square" lIns="0" tIns="0" rIns="0" bIns="0" rtlCol="0" anchor="ctr"/>
          <a:lstStyle/>
          <a:p>
            <a:pPr indent="0" marL="0">
              <a:buNone/>
            </a:pPr>
            <a:r>
              <a:rPr lang="en-US" sz="1200" dirty="0">
                <a:solidFill>
                  <a:srgbClr val="CADCFC"/>
                </a:solidFill>
                <a:latin typeface="Courier New" pitchFamily="34" charset="0"/>
                <a:ea typeface="Courier New" pitchFamily="34" charset="-122"/>
                <a:cs typeface="Courier New" pitchFamily="34" charset="-120"/>
              </a:rPr>
              <a:t>function a1(uint _x)public{require(b2[msg.se</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nder]&gt;=_x);b2[msg.sender]-=_x;msg.sender.tr</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ansfer(_x);} // + junk logic, renamed vars,</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 collapsed layout</a:t>
            </a:r>
            <a:endParaRPr lang="en-US" sz="1200" dirty="0"/>
          </a:p>
        </p:txBody>
      </p:sp>
      <p:sp>
        <p:nvSpPr>
          <p:cNvPr id="12" name="Text 10"/>
          <p:cNvSpPr txBox="1"/>
          <p:nvPr/>
        </p:nvSpPr>
        <p:spPr>
          <a:xfrm>
            <a:off x="640080" y="5074920"/>
            <a:ext cx="10972800" cy="548640"/>
          </a:xfrm>
          <a:prstGeom prst="rect">
            <a:avLst/>
          </a:prstGeom>
          <a:noFill/>
          <a:ln/>
        </p:spPr>
        <p:txBody>
          <a:bodyPr wrap="square" lIns="0" tIns="0" rIns="0" bIns="0" rtlCol="0" anchor="ctr"/>
          <a:lstStyle/>
          <a:p>
            <a:pPr indent="0" marL="0">
              <a:buNone/>
            </a:pPr>
            <a:r>
              <a:rPr lang="en-US" sz="1700" b="1" i="1" dirty="0">
                <a:solidFill>
                  <a:srgbClr val="5FA8FF"/>
                </a:solidFill>
                <a:latin typeface="Calibri" pitchFamily="34" charset="0"/>
                <a:ea typeface="Calibri" pitchFamily="34" charset="-122"/>
                <a:cs typeface="Calibri" pitchFamily="34" charset="-120"/>
              </a:rPr>
              <a:t>Same behaviour — but much harder to read. Does that stop the tools?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731520"/>
          </a:xfrm>
          <a:prstGeom prst="rect">
            <a:avLst/>
          </a:prstGeom>
          <a:noFill/>
          <a:ln/>
        </p:spPr>
        <p:txBody>
          <a:bodyPr wrap="square" lIns="0" tIns="0" rIns="0" bIns="0" rtlCol="0" anchor="ctr"/>
          <a:lstStyle/>
          <a:p>
            <a:pPr indent="0" marL="0">
              <a:buNone/>
            </a:pPr>
            <a:r>
              <a:rPr lang="en-US" sz="3400" b="1" dirty="0">
                <a:solidFill>
                  <a:srgbClr val="0B1437"/>
                </a:solidFill>
                <a:latin typeface="Cambria" pitchFamily="34" charset="0"/>
                <a:ea typeface="Cambria" pitchFamily="34" charset="-122"/>
                <a:cs typeface="Cambria" pitchFamily="34" charset="-120"/>
              </a:rPr>
              <a:t>What we observe</a:t>
            </a:r>
            <a:endParaRPr lang="en-US" sz="3400" dirty="0"/>
          </a:p>
        </p:txBody>
      </p:sp>
      <p:sp>
        <p:nvSpPr>
          <p:cNvPr id="3" name="Text 1"/>
          <p:cNvSpPr txBox="1"/>
          <p:nvPr/>
        </p:nvSpPr>
        <p:spPr>
          <a:xfrm>
            <a:off x="640080" y="1143000"/>
            <a:ext cx="10972800" cy="457200"/>
          </a:xfrm>
          <a:prstGeom prst="rect">
            <a:avLst/>
          </a:prstGeom>
          <a:noFill/>
          <a:ln/>
        </p:spPr>
        <p:txBody>
          <a:bodyPr wrap="square" lIns="0" tIns="0" rIns="0" bIns="0" rtlCol="0" anchor="ctr"/>
          <a:lstStyle/>
          <a:p>
            <a:pPr indent="0" marL="0">
              <a:buNone/>
            </a:pPr>
            <a:r>
              <a:rPr lang="en-US" sz="1500" i="1" dirty="0">
                <a:solidFill>
                  <a:srgbClr val="8EA0C8"/>
                </a:solidFill>
                <a:latin typeface="Calibri" pitchFamily="34" charset="0"/>
                <a:ea typeface="Calibri" pitchFamily="34" charset="-122"/>
                <a:cs typeface="Calibri" pitchFamily="34" charset="-120"/>
              </a:rPr>
              <a:t>Preliminary findings — the study is ongoing</a:t>
            </a:r>
            <a:endParaRPr lang="en-US" sz="1500" dirty="0"/>
          </a:p>
        </p:txBody>
      </p:sp>
      <p:sp>
        <p:nvSpPr>
          <p:cNvPr id="4" name="Shape 2"/>
          <p:cNvSpPr/>
          <p:nvPr/>
        </p:nvSpPr>
        <p:spPr>
          <a:xfrm>
            <a:off x="640080" y="1828800"/>
            <a:ext cx="10881360" cy="1325880"/>
          </a:xfrm>
          <a:prstGeom prst="roundRect">
            <a:avLst>
              <a:gd name="adj" fmla="val 6207"/>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868680" y="2084832"/>
            <a:ext cx="822960" cy="822960"/>
          </a:xfrm>
          <a:prstGeom prst="roundRect">
            <a:avLst>
              <a:gd name="adj" fmla="val 13333"/>
            </a:avLst>
          </a:prstGeom>
          <a:solidFill>
            <a:srgbClr val="FF7A85"/>
          </a:solidFill>
          <a:ln/>
        </p:spPr>
      </p:sp>
      <p:sp>
        <p:nvSpPr>
          <p:cNvPr id="6" name="Text 4"/>
          <p:cNvSpPr txBox="1"/>
          <p:nvPr/>
        </p:nvSpPr>
        <p:spPr>
          <a:xfrm>
            <a:off x="1920240" y="2011680"/>
            <a:ext cx="9326880" cy="502920"/>
          </a:xfrm>
          <a:prstGeom prst="rect">
            <a:avLst/>
          </a:prstGeom>
          <a:noFill/>
          <a:ln/>
        </p:spPr>
        <p:txBody>
          <a:bodyPr wrap="square" lIns="0" tIns="0" rIns="0" bIns="0" rtlCol="0" anchor="ctr"/>
          <a:lstStyle/>
          <a:p>
            <a:pPr indent="0" marL="0">
              <a:buNone/>
            </a:pPr>
            <a:r>
              <a:rPr lang="en-US" sz="1900" b="1" dirty="0">
                <a:solidFill>
                  <a:srgbClr val="0B1437"/>
                </a:solidFill>
                <a:latin typeface="Cambria" pitchFamily="34" charset="0"/>
                <a:ea typeface="Cambria" pitchFamily="34" charset="-122"/>
                <a:cs typeface="Cambria" pitchFamily="34" charset="-120"/>
              </a:rPr>
              <a:t>Obfuscation often breaks compilation</a:t>
            </a:r>
            <a:endParaRPr lang="en-US" sz="1900" dirty="0"/>
          </a:p>
        </p:txBody>
      </p:sp>
      <p:sp>
        <p:nvSpPr>
          <p:cNvPr id="7" name="Text 5"/>
          <p:cNvSpPr txBox="1"/>
          <p:nvPr/>
        </p:nvSpPr>
        <p:spPr>
          <a:xfrm>
            <a:off x="1920240" y="2505456"/>
            <a:ext cx="9326880" cy="548640"/>
          </a:xfrm>
          <a:prstGeom prst="rect">
            <a:avLst/>
          </a:prstGeom>
          <a:noFill/>
          <a:ln/>
        </p:spPr>
        <p:txBody>
          <a:bodyPr wrap="square" lIns="0" tIns="0" rIns="0" bIns="0" rtlCol="0" anchor="ctr"/>
          <a:lstStyle/>
          <a:p>
            <a:pPr indent="0" marL="0">
              <a:buNone/>
            </a:pPr>
            <a:r>
              <a:rPr lang="en-US" sz="1450" dirty="0">
                <a:solidFill>
                  <a:srgbClr val="47536F"/>
                </a:solidFill>
                <a:latin typeface="Calibri" pitchFamily="34" charset="0"/>
                <a:ea typeface="Calibri" pitchFamily="34" charset="-122"/>
                <a:cs typeface="Calibri" pitchFamily="34" charset="-120"/>
              </a:rPr>
              <a:t>Many obfuscated contracts no longer compile. A tool cannot analyse what will not build.</a:t>
            </a:r>
            <a:endParaRPr lang="en-US" sz="1450" dirty="0"/>
          </a:p>
        </p:txBody>
      </p:sp>
      <p:sp>
        <p:nvSpPr>
          <p:cNvPr id="8" name="Shape 6"/>
          <p:cNvSpPr/>
          <p:nvPr/>
        </p:nvSpPr>
        <p:spPr>
          <a:xfrm>
            <a:off x="640080" y="3310128"/>
            <a:ext cx="10881360" cy="1325880"/>
          </a:xfrm>
          <a:prstGeom prst="roundRect">
            <a:avLst>
              <a:gd name="adj" fmla="val 6207"/>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9" name="Shape 7"/>
          <p:cNvSpPr/>
          <p:nvPr/>
        </p:nvSpPr>
        <p:spPr>
          <a:xfrm>
            <a:off x="868680" y="3566160"/>
            <a:ext cx="822960" cy="822960"/>
          </a:xfrm>
          <a:prstGeom prst="roundRect">
            <a:avLst>
              <a:gd name="adj" fmla="val 13333"/>
            </a:avLst>
          </a:prstGeom>
          <a:solidFill>
            <a:srgbClr val="F6C85F"/>
          </a:solidFill>
          <a:ln/>
        </p:spPr>
      </p:sp>
      <p:sp>
        <p:nvSpPr>
          <p:cNvPr id="10" name="Text 8"/>
          <p:cNvSpPr txBox="1"/>
          <p:nvPr/>
        </p:nvSpPr>
        <p:spPr>
          <a:xfrm>
            <a:off x="1920240" y="3493008"/>
            <a:ext cx="9326880" cy="502920"/>
          </a:xfrm>
          <a:prstGeom prst="rect">
            <a:avLst/>
          </a:prstGeom>
          <a:noFill/>
          <a:ln/>
        </p:spPr>
        <p:txBody>
          <a:bodyPr wrap="square" lIns="0" tIns="0" rIns="0" bIns="0" rtlCol="0" anchor="ctr"/>
          <a:lstStyle/>
          <a:p>
            <a:pPr indent="0" marL="0">
              <a:buNone/>
            </a:pPr>
            <a:r>
              <a:rPr lang="en-US" sz="1900" b="1" dirty="0">
                <a:solidFill>
                  <a:srgbClr val="0B1437"/>
                </a:solidFill>
                <a:latin typeface="Cambria" pitchFamily="34" charset="0"/>
                <a:ea typeface="Cambria" pitchFamily="34" charset="-122"/>
                <a:cs typeface="Cambria" pitchFamily="34" charset="-120"/>
              </a:rPr>
              <a:t>Fewer findings — but not safer</a:t>
            </a:r>
            <a:endParaRPr lang="en-US" sz="1900" dirty="0"/>
          </a:p>
        </p:txBody>
      </p:sp>
      <p:sp>
        <p:nvSpPr>
          <p:cNvPr id="11" name="Text 9"/>
          <p:cNvSpPr txBox="1"/>
          <p:nvPr/>
        </p:nvSpPr>
        <p:spPr>
          <a:xfrm>
            <a:off x="1920240" y="3986784"/>
            <a:ext cx="9326880" cy="548640"/>
          </a:xfrm>
          <a:prstGeom prst="rect">
            <a:avLst/>
          </a:prstGeom>
          <a:noFill/>
          <a:ln/>
        </p:spPr>
        <p:txBody>
          <a:bodyPr wrap="square" lIns="0" tIns="0" rIns="0" bIns="0" rtlCol="0" anchor="ctr"/>
          <a:lstStyle/>
          <a:p>
            <a:pPr indent="0" marL="0">
              <a:buNone/>
            </a:pPr>
            <a:r>
              <a:rPr lang="en-US" sz="1450" dirty="0">
                <a:solidFill>
                  <a:srgbClr val="47536F"/>
                </a:solidFill>
                <a:latin typeface="Calibri" pitchFamily="34" charset="0"/>
                <a:ea typeface="Calibri" pitchFamily="34" charset="-122"/>
                <a:cs typeface="Calibri" pitchFamily="34" charset="-120"/>
              </a:rPr>
              <a:t>When the tool can't run, it reports nothing. 'No finding' does not mean 'no bug'.</a:t>
            </a:r>
            <a:endParaRPr lang="en-US" sz="1450" dirty="0"/>
          </a:p>
        </p:txBody>
      </p:sp>
      <p:sp>
        <p:nvSpPr>
          <p:cNvPr id="12" name="Shape 10"/>
          <p:cNvSpPr/>
          <p:nvPr/>
        </p:nvSpPr>
        <p:spPr>
          <a:xfrm>
            <a:off x="640080" y="4791456"/>
            <a:ext cx="10881360" cy="1325880"/>
          </a:xfrm>
          <a:prstGeom prst="roundRect">
            <a:avLst>
              <a:gd name="adj" fmla="val 6207"/>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13" name="Shape 11"/>
          <p:cNvSpPr/>
          <p:nvPr/>
        </p:nvSpPr>
        <p:spPr>
          <a:xfrm>
            <a:off x="868680" y="5047488"/>
            <a:ext cx="822960" cy="822960"/>
          </a:xfrm>
          <a:prstGeom prst="roundRect">
            <a:avLst>
              <a:gd name="adj" fmla="val 13333"/>
            </a:avLst>
          </a:prstGeom>
          <a:solidFill>
            <a:srgbClr val="5FA8FF"/>
          </a:solidFill>
          <a:ln/>
        </p:spPr>
      </p:sp>
      <p:sp>
        <p:nvSpPr>
          <p:cNvPr id="14" name="Text 12"/>
          <p:cNvSpPr txBox="1"/>
          <p:nvPr/>
        </p:nvSpPr>
        <p:spPr>
          <a:xfrm>
            <a:off x="1920240" y="4974336"/>
            <a:ext cx="9326880" cy="502920"/>
          </a:xfrm>
          <a:prstGeom prst="rect">
            <a:avLst/>
          </a:prstGeom>
          <a:noFill/>
          <a:ln/>
        </p:spPr>
        <p:txBody>
          <a:bodyPr wrap="square" lIns="0" tIns="0" rIns="0" bIns="0" rtlCol="0" anchor="ctr"/>
          <a:lstStyle/>
          <a:p>
            <a:pPr indent="0" marL="0">
              <a:buNone/>
            </a:pPr>
            <a:r>
              <a:rPr lang="en-US" sz="1900" b="1" dirty="0">
                <a:solidFill>
                  <a:srgbClr val="0B1437"/>
                </a:solidFill>
                <a:latin typeface="Cambria" pitchFamily="34" charset="0"/>
                <a:ea typeface="Cambria" pitchFamily="34" charset="-122"/>
                <a:cs typeface="Cambria" pitchFamily="34" charset="-120"/>
              </a:rPr>
              <a:t>Effect varies by tool &amp; transform</a:t>
            </a:r>
            <a:endParaRPr lang="en-US" sz="1900" dirty="0"/>
          </a:p>
        </p:txBody>
      </p:sp>
      <p:sp>
        <p:nvSpPr>
          <p:cNvPr id="15" name="Text 13"/>
          <p:cNvSpPr txBox="1"/>
          <p:nvPr/>
        </p:nvSpPr>
        <p:spPr>
          <a:xfrm>
            <a:off x="1920240" y="5468112"/>
            <a:ext cx="9326880" cy="548640"/>
          </a:xfrm>
          <a:prstGeom prst="rect">
            <a:avLst/>
          </a:prstGeom>
          <a:noFill/>
          <a:ln/>
        </p:spPr>
        <p:txBody>
          <a:bodyPr wrap="square" lIns="0" tIns="0" rIns="0" bIns="0" rtlCol="0" anchor="ctr"/>
          <a:lstStyle/>
          <a:p>
            <a:pPr indent="0" marL="0">
              <a:buNone/>
            </a:pPr>
            <a:r>
              <a:rPr lang="en-US" sz="1450" dirty="0">
                <a:solidFill>
                  <a:srgbClr val="47536F"/>
                </a:solidFill>
                <a:latin typeface="Calibri" pitchFamily="34" charset="0"/>
                <a:ea typeface="Calibri" pitchFamily="34" charset="-122"/>
                <a:cs typeface="Calibri" pitchFamily="34" charset="-120"/>
              </a:rPr>
              <a:t>Some tools degrade more than others; heavier obfuscation tends to suppress more.</a:t>
            </a:r>
            <a:endParaRPr lang="en-US" sz="1450" dirty="0"/>
          </a:p>
        </p:txBody>
      </p:sp>
      <p:sp>
        <p:nvSpPr>
          <p:cNvPr id="16" name="Text 14"/>
          <p:cNvSpPr txBox="1"/>
          <p:nvPr/>
        </p:nvSpPr>
        <p:spPr>
          <a:xfrm>
            <a:off x="640080" y="6309360"/>
            <a:ext cx="10972800" cy="457200"/>
          </a:xfrm>
          <a:prstGeom prst="rect">
            <a:avLst/>
          </a:prstGeom>
          <a:noFill/>
          <a:ln/>
        </p:spPr>
        <p:txBody>
          <a:bodyPr wrap="square" lIns="0" tIns="0" rIns="0" bIns="0" rtlCol="0" anchor="ctr"/>
          <a:lstStyle/>
          <a:p>
            <a:pPr indent="0" marL="0">
              <a:buNone/>
            </a:pPr>
            <a:r>
              <a:rPr lang="en-US" sz="1700" b="1" i="1" dirty="0">
                <a:solidFill>
                  <a:srgbClr val="8C7BFF"/>
                </a:solidFill>
                <a:latin typeface="Calibri" pitchFamily="34" charset="0"/>
                <a:ea typeface="Calibri" pitchFamily="34" charset="-122"/>
                <a:cs typeface="Calibri" pitchFamily="34" charset="-120"/>
              </a:rPr>
              <a:t>Takeaway:  harder to read  is NOT  more secure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9875520" y="-914400"/>
            <a:ext cx="3657600" cy="3657600"/>
          </a:xfrm>
          <a:prstGeom prst="ellipse">
            <a:avLst/>
          </a:prstGeom>
          <a:solidFill>
            <a:srgbClr val="8C7BFF">
              <a:alpha val="12000"/>
            </a:srgbClr>
          </a:solidFill>
          <a:ln/>
        </p:spPr>
      </p:sp>
      <p:sp>
        <p:nvSpPr>
          <p:cNvPr id="3" name="Text 1"/>
          <p:cNvSpPr txBox="1"/>
          <p:nvPr/>
        </p:nvSpPr>
        <p:spPr>
          <a:xfrm>
            <a:off x="640080" y="73152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But most real contracts have no source at all</a:t>
            </a:r>
            <a:endParaRPr lang="en-US" sz="3200" dirty="0"/>
          </a:p>
        </p:txBody>
      </p:sp>
      <p:sp>
        <p:nvSpPr>
          <p:cNvPr id="4" name="Text 2"/>
          <p:cNvSpPr txBox="1"/>
          <p:nvPr/>
        </p:nvSpPr>
        <p:spPr>
          <a:xfrm>
            <a:off x="640080" y="1737360"/>
            <a:ext cx="10515600" cy="100584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On the blockchain, every deployed contract is just bytecode — a long string of machine code.</a:t>
            </a:r>
            <a:endParaRPr lang="en-US" sz="1800" dirty="0"/>
          </a:p>
          <a:p>
            <a:pPr indent="0" marL="0">
              <a:buNone/>
            </a:pPr>
            <a:r>
              <a:rPr lang="en-US" sz="1800" dirty="0">
                <a:solidFill>
                  <a:srgbClr val="CADCFC"/>
                </a:solidFill>
                <a:latin typeface="Calibri" pitchFamily="34" charset="0"/>
                <a:ea typeface="Calibri" pitchFamily="34" charset="-122"/>
                <a:cs typeface="Calibri" pitchFamily="34" charset="-120"/>
              </a:rPr>
              <a:t>Many are closed-source: there is no .sol file to analyse.</a:t>
            </a:r>
            <a:endParaRPr lang="en-US" sz="1800" dirty="0"/>
          </a:p>
        </p:txBody>
      </p:sp>
      <p:sp>
        <p:nvSpPr>
          <p:cNvPr id="5" name="Shape 3"/>
          <p:cNvSpPr/>
          <p:nvPr/>
        </p:nvSpPr>
        <p:spPr>
          <a:xfrm>
            <a:off x="640080" y="3017520"/>
            <a:ext cx="10881360" cy="1371600"/>
          </a:xfrm>
          <a:prstGeom prst="roundRect">
            <a:avLst>
              <a:gd name="adj" fmla="val 6000"/>
            </a:avLst>
          </a:prstGeom>
          <a:solidFill>
            <a:srgbClr val="141E47"/>
          </a:solidFill>
          <a:ln/>
          <a:effectLst>
            <a:outerShdw sx="100000" sy="100000" kx="0" ky="0" algn="bl" rotWithShape="0" blurRad="101600" dist="38100" dir="5400000">
              <a:srgbClr val="000000">
                <a:alpha val="35000"/>
              </a:srgbClr>
            </a:outerShdw>
          </a:effectLst>
        </p:spPr>
      </p:sp>
      <p:sp>
        <p:nvSpPr>
          <p:cNvPr id="6" name="Text 4"/>
          <p:cNvSpPr txBox="1"/>
          <p:nvPr/>
        </p:nvSpPr>
        <p:spPr>
          <a:xfrm>
            <a:off x="914400" y="3246120"/>
            <a:ext cx="10332720" cy="457200"/>
          </a:xfrm>
          <a:prstGeom prst="rect">
            <a:avLst/>
          </a:prstGeom>
          <a:noFill/>
          <a:ln/>
        </p:spPr>
        <p:txBody>
          <a:bodyPr wrap="square" lIns="0" tIns="0" rIns="0" bIns="0" rtlCol="0" anchor="ctr"/>
          <a:lstStyle/>
          <a:p>
            <a:pPr indent="0" marL="0">
              <a:buNone/>
            </a:pPr>
            <a:r>
              <a:rPr lang="en-US" sz="1600" dirty="0">
                <a:solidFill>
                  <a:srgbClr val="5FA8FF"/>
                </a:solidFill>
                <a:latin typeface="Courier New" pitchFamily="34" charset="0"/>
                <a:ea typeface="Courier New" pitchFamily="34" charset="-122"/>
                <a:cs typeface="Courier New" pitchFamily="34" charset="-120"/>
              </a:rPr>
              <a:t>0x60806040523480156100105760008...</a:t>
            </a:r>
            <a:endParaRPr lang="en-US" sz="1600" dirty="0"/>
          </a:p>
        </p:txBody>
      </p:sp>
      <p:sp>
        <p:nvSpPr>
          <p:cNvPr id="7" name="Text 5"/>
          <p:cNvSpPr txBox="1"/>
          <p:nvPr/>
        </p:nvSpPr>
        <p:spPr>
          <a:xfrm>
            <a:off x="914400" y="3749040"/>
            <a:ext cx="10332720" cy="457200"/>
          </a:xfrm>
          <a:prstGeom prst="rect">
            <a:avLst/>
          </a:prstGeom>
          <a:noFill/>
          <a:ln/>
        </p:spPr>
        <p:txBody>
          <a:bodyPr wrap="square" lIns="0" tIns="0" rIns="0" bIns="0" rtlCol="0" anchor="ctr"/>
          <a:lstStyle/>
          <a:p>
            <a:pPr indent="0" marL="0">
              <a:buNone/>
            </a:pPr>
            <a:r>
              <a:rPr lang="en-US" sz="1350" i="1" dirty="0">
                <a:solidFill>
                  <a:srgbClr val="8EA0C8"/>
                </a:solidFill>
                <a:latin typeface="Calibri" pitchFamily="34" charset="0"/>
                <a:ea typeface="Calibri" pitchFamily="34" charset="-122"/>
                <a:cs typeface="Calibri" pitchFamily="34" charset="-120"/>
              </a:rPr>
              <a:t>deployed bytecode — unreadable to humans, and most tools need source</a:t>
            </a:r>
            <a:endParaRPr lang="en-US" sz="1350" dirty="0"/>
          </a:p>
        </p:txBody>
      </p:sp>
      <p:sp>
        <p:nvSpPr>
          <p:cNvPr id="8" name="Text 6"/>
          <p:cNvSpPr txBox="1"/>
          <p:nvPr/>
        </p:nvSpPr>
        <p:spPr>
          <a:xfrm>
            <a:off x="640080" y="5029200"/>
            <a:ext cx="10972800" cy="822960"/>
          </a:xfrm>
          <a:prstGeom prst="rect">
            <a:avLst/>
          </a:prstGeom>
          <a:noFill/>
          <a:ln/>
        </p:spPr>
        <p:txBody>
          <a:bodyPr wrap="square" lIns="0" tIns="0" rIns="0" bIns="0" rtlCol="0" anchor="ctr"/>
          <a:lstStyle/>
          <a:p>
            <a:pPr indent="0" marL="0">
              <a:buNone/>
            </a:pPr>
            <a:r>
              <a:rPr lang="en-US" sz="1900" b="1" i="1" dirty="0">
                <a:solidFill>
                  <a:srgbClr val="8C7BFF"/>
                </a:solidFill>
                <a:latin typeface="Calibri" pitchFamily="34" charset="0"/>
                <a:ea typeface="Calibri" pitchFamily="34" charset="-122"/>
                <a:cs typeface="Calibri" pitchFamily="34" charset="-120"/>
              </a:rPr>
              <a:t>So the next question:  can we still analyse a contract when all we have is its bytecode?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10332720" y="4023360"/>
            <a:ext cx="2926080" cy="2926080"/>
          </a:xfrm>
          <a:prstGeom prst="ellipse">
            <a:avLst/>
          </a:prstGeom>
          <a:solidFill>
            <a:srgbClr val="4ED6A1">
              <a:alpha val="12000"/>
            </a:srgbClr>
          </a:solidFill>
          <a:ln/>
        </p:spPr>
      </p:sp>
      <p:sp>
        <p:nvSpPr>
          <p:cNvPr id="3" name="Shape 1"/>
          <p:cNvSpPr/>
          <p:nvPr/>
        </p:nvSpPr>
        <p:spPr>
          <a:xfrm>
            <a:off x="640080" y="502920"/>
            <a:ext cx="1837944" cy="292608"/>
          </a:xfrm>
          <a:prstGeom prst="roundRect">
            <a:avLst>
              <a:gd name="adj" fmla="val 50000"/>
            </a:avLst>
          </a:prstGeom>
          <a:solidFill>
            <a:srgbClr val="1E2A5A"/>
          </a:solidFill>
          <a:ln/>
        </p:spPr>
      </p:sp>
      <p:sp>
        <p:nvSpPr>
          <p:cNvPr id="4" name="Text 2"/>
          <p:cNvSpPr txBox="1"/>
          <p:nvPr/>
        </p:nvSpPr>
        <p:spPr>
          <a:xfrm>
            <a:off x="640080" y="502920"/>
            <a:ext cx="1837944" cy="292608"/>
          </a:xfrm>
          <a:prstGeom prst="rect">
            <a:avLst/>
          </a:prstGeom>
          <a:noFill/>
          <a:ln/>
        </p:spPr>
        <p:txBody>
          <a:bodyPr wrap="square" lIns="0" tIns="0" rIns="0" bIns="0"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BLOCKCHAIN FOUNDATIONS</a:t>
            </a:r>
            <a:endParaRPr lang="en-US" sz="1000" dirty="0"/>
          </a:p>
        </p:txBody>
      </p:sp>
      <p:sp>
        <p:nvSpPr>
          <p:cNvPr id="5" name="Text 3"/>
          <p:cNvSpPr txBox="1"/>
          <p:nvPr/>
        </p:nvSpPr>
        <p:spPr>
          <a:xfrm>
            <a:off x="640080" y="91440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Zero-knowledge proofs, simply</a:t>
            </a:r>
            <a:endParaRPr lang="en-US" sz="3200" dirty="0"/>
          </a:p>
        </p:txBody>
      </p:sp>
      <p:sp>
        <p:nvSpPr>
          <p:cNvPr id="6" name="Text 4"/>
          <p:cNvSpPr txBox="1"/>
          <p:nvPr/>
        </p:nvSpPr>
        <p:spPr>
          <a:xfrm>
            <a:off x="640080" y="1645920"/>
            <a:ext cx="10972800" cy="50292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A way to prove a statement is true — without revealing any of the underlying data.</a:t>
            </a:r>
            <a:endParaRPr lang="en-US" sz="1700" dirty="0"/>
          </a:p>
        </p:txBody>
      </p:sp>
      <p:sp>
        <p:nvSpPr>
          <p:cNvPr id="7" name="Shape 5"/>
          <p:cNvSpPr/>
          <p:nvPr/>
        </p:nvSpPr>
        <p:spPr>
          <a:xfrm>
            <a:off x="685800" y="2423160"/>
            <a:ext cx="3429000" cy="1920240"/>
          </a:xfrm>
          <a:prstGeom prst="roundRect">
            <a:avLst>
              <a:gd name="adj" fmla="val 4286"/>
            </a:avLst>
          </a:prstGeom>
          <a:solidFill>
            <a:srgbClr val="8C7BFF"/>
          </a:solidFill>
          <a:ln/>
          <a:effectLst>
            <a:outerShdw sx="100000" sy="100000" kx="0" ky="0" algn="bl" rotWithShape="0" blurRad="101600" dist="38100" dir="5400000">
              <a:srgbClr val="000000">
                <a:alpha val="35000"/>
              </a:srgbClr>
            </a:outerShdw>
          </a:effectLst>
        </p:spPr>
      </p:sp>
      <p:sp>
        <p:nvSpPr>
          <p:cNvPr id="8" name="Text 6"/>
          <p:cNvSpPr txBox="1"/>
          <p:nvPr/>
        </p:nvSpPr>
        <p:spPr>
          <a:xfrm>
            <a:off x="685800" y="2651760"/>
            <a:ext cx="342900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Prover</a:t>
            </a:r>
            <a:endParaRPr lang="en-US" sz="2000" dirty="0"/>
          </a:p>
        </p:txBody>
      </p:sp>
      <p:sp>
        <p:nvSpPr>
          <p:cNvPr id="9" name="Text 7"/>
          <p:cNvSpPr txBox="1"/>
          <p:nvPr/>
        </p:nvSpPr>
        <p:spPr>
          <a:xfrm>
            <a:off x="914400" y="3246120"/>
            <a:ext cx="2971800" cy="100584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knows a secret and wants to prove something about it</a:t>
            </a:r>
            <a:endParaRPr lang="en-US" sz="1350" dirty="0"/>
          </a:p>
        </p:txBody>
      </p:sp>
      <p:sp>
        <p:nvSpPr>
          <p:cNvPr id="10" name="Text 8"/>
          <p:cNvSpPr txBox="1"/>
          <p:nvPr/>
        </p:nvSpPr>
        <p:spPr>
          <a:xfrm>
            <a:off x="4142232" y="3154680"/>
            <a:ext cx="457200" cy="457200"/>
          </a:xfrm>
          <a:prstGeom prst="rect">
            <a:avLst/>
          </a:prstGeom>
          <a:noFill/>
          <a:ln/>
        </p:spPr>
        <p:txBody>
          <a:bodyPr wrap="square" lIns="0" tIns="0" rIns="0" bIns="0" rtlCol="0" anchor="ctr"/>
          <a:lstStyle/>
          <a:p>
            <a:pPr algn="ctr" indent="0" marL="0">
              <a:buNone/>
            </a:pPr>
            <a:r>
              <a:rPr lang="en-US" sz="2600" b="1" dirty="0">
                <a:solidFill>
                  <a:srgbClr val="8C7BFF"/>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4617720" y="2423160"/>
            <a:ext cx="3429000" cy="1920240"/>
          </a:xfrm>
          <a:prstGeom prst="roundRect">
            <a:avLst>
              <a:gd name="adj" fmla="val 4286"/>
            </a:avLst>
          </a:prstGeom>
          <a:solidFill>
            <a:srgbClr val="5FA8FF"/>
          </a:solidFill>
          <a:ln/>
          <a:effectLst>
            <a:outerShdw sx="100000" sy="100000" kx="0" ky="0" algn="bl" rotWithShape="0" blurRad="101600" dist="38100" dir="5400000">
              <a:srgbClr val="000000">
                <a:alpha val="35000"/>
              </a:srgbClr>
            </a:outerShdw>
          </a:effectLst>
        </p:spPr>
      </p:sp>
      <p:sp>
        <p:nvSpPr>
          <p:cNvPr id="12" name="Text 10"/>
          <p:cNvSpPr txBox="1"/>
          <p:nvPr/>
        </p:nvSpPr>
        <p:spPr>
          <a:xfrm>
            <a:off x="4617720" y="2651760"/>
            <a:ext cx="342900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ZK Proof</a:t>
            </a:r>
            <a:endParaRPr lang="en-US" sz="2000" dirty="0"/>
          </a:p>
        </p:txBody>
      </p:sp>
      <p:sp>
        <p:nvSpPr>
          <p:cNvPr id="13" name="Text 11"/>
          <p:cNvSpPr txBox="1"/>
          <p:nvPr/>
        </p:nvSpPr>
        <p:spPr>
          <a:xfrm>
            <a:off x="4846320" y="3246120"/>
            <a:ext cx="2971800" cy="100584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a small cryptographic proof — reveals nothing about the secret</a:t>
            </a:r>
            <a:endParaRPr lang="en-US" sz="1350" dirty="0"/>
          </a:p>
        </p:txBody>
      </p:sp>
      <p:sp>
        <p:nvSpPr>
          <p:cNvPr id="14" name="Text 12"/>
          <p:cNvSpPr txBox="1"/>
          <p:nvPr/>
        </p:nvSpPr>
        <p:spPr>
          <a:xfrm>
            <a:off x="8074152" y="3154680"/>
            <a:ext cx="457200" cy="457200"/>
          </a:xfrm>
          <a:prstGeom prst="rect">
            <a:avLst/>
          </a:prstGeom>
          <a:noFill/>
          <a:ln/>
        </p:spPr>
        <p:txBody>
          <a:bodyPr wrap="square" lIns="0" tIns="0" rIns="0" bIns="0" rtlCol="0" anchor="ctr"/>
          <a:lstStyle/>
          <a:p>
            <a:pPr algn="ctr" indent="0" marL="0">
              <a:buNone/>
            </a:pPr>
            <a:r>
              <a:rPr lang="en-US" sz="2600" b="1" dirty="0">
                <a:solidFill>
                  <a:srgbClr val="8C7BFF"/>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8549640" y="2423160"/>
            <a:ext cx="3429000" cy="1920240"/>
          </a:xfrm>
          <a:prstGeom prst="roundRect">
            <a:avLst>
              <a:gd name="adj" fmla="val 4286"/>
            </a:avLst>
          </a:prstGeom>
          <a:solidFill>
            <a:srgbClr val="4ED6A1"/>
          </a:solidFill>
          <a:ln/>
          <a:effectLst>
            <a:outerShdw sx="100000" sy="100000" kx="0" ky="0" algn="bl" rotWithShape="0" blurRad="101600" dist="38100" dir="5400000">
              <a:srgbClr val="000000">
                <a:alpha val="35000"/>
              </a:srgbClr>
            </a:outerShdw>
          </a:effectLst>
        </p:spPr>
      </p:sp>
      <p:sp>
        <p:nvSpPr>
          <p:cNvPr id="16" name="Text 14"/>
          <p:cNvSpPr txBox="1"/>
          <p:nvPr/>
        </p:nvSpPr>
        <p:spPr>
          <a:xfrm>
            <a:off x="8549640" y="2651760"/>
            <a:ext cx="3429000" cy="548640"/>
          </a:xfrm>
          <a:prstGeom prst="rect">
            <a:avLst/>
          </a:prstGeom>
          <a:noFill/>
          <a:ln/>
        </p:spPr>
        <p:txBody>
          <a:bodyPr wrap="square" lIns="0" tIns="0" rIns="0" bIns="0" rtlCol="0" anchor="ctr"/>
          <a:lstStyle/>
          <a:p>
            <a:pPr algn="ctr" indent="0" marL="0">
              <a:buNone/>
            </a:pPr>
            <a:r>
              <a:rPr lang="en-US" sz="2000" b="1" dirty="0">
                <a:solidFill>
                  <a:srgbClr val="0B1437"/>
                </a:solidFill>
                <a:latin typeface="Cambria" pitchFamily="34" charset="0"/>
                <a:ea typeface="Cambria" pitchFamily="34" charset="-122"/>
                <a:cs typeface="Cambria" pitchFamily="34" charset="-120"/>
              </a:rPr>
              <a:t>Verifier</a:t>
            </a:r>
            <a:endParaRPr lang="en-US" sz="2000" dirty="0"/>
          </a:p>
        </p:txBody>
      </p:sp>
      <p:sp>
        <p:nvSpPr>
          <p:cNvPr id="17" name="Text 15"/>
          <p:cNvSpPr txBox="1"/>
          <p:nvPr/>
        </p:nvSpPr>
        <p:spPr>
          <a:xfrm>
            <a:off x="8778240" y="3246120"/>
            <a:ext cx="2971800" cy="1005840"/>
          </a:xfrm>
          <a:prstGeom prst="rect">
            <a:avLst/>
          </a:prstGeom>
          <a:noFill/>
          <a:ln/>
        </p:spPr>
        <p:txBody>
          <a:bodyPr wrap="square" lIns="0" tIns="0" rIns="0" bIns="0" rtlCol="0" anchor="ctr"/>
          <a:lstStyle/>
          <a:p>
            <a:pPr algn="ctr" indent="0" marL="0">
              <a:buNone/>
            </a:pPr>
            <a:r>
              <a:rPr lang="en-US" sz="1350" dirty="0">
                <a:solidFill>
                  <a:srgbClr val="24433A"/>
                </a:solidFill>
                <a:latin typeface="Calibri" pitchFamily="34" charset="0"/>
                <a:ea typeface="Calibri" pitchFamily="34" charset="-122"/>
                <a:cs typeface="Calibri" pitchFamily="34" charset="-120"/>
              </a:rPr>
              <a:t>checks the proof is valid, cheaply, without seeing the data</a:t>
            </a:r>
            <a:endParaRPr lang="en-US" sz="1350" dirty="0"/>
          </a:p>
        </p:txBody>
      </p:sp>
      <p:sp>
        <p:nvSpPr>
          <p:cNvPr id="18" name="Shape 16"/>
          <p:cNvSpPr/>
          <p:nvPr/>
        </p:nvSpPr>
        <p:spPr>
          <a:xfrm>
            <a:off x="685800" y="4846320"/>
            <a:ext cx="10744200" cy="1234440"/>
          </a:xfrm>
          <a:prstGeom prst="roundRect">
            <a:avLst>
              <a:gd name="adj" fmla="val 6667"/>
            </a:avLst>
          </a:prstGeom>
          <a:solidFill>
            <a:srgbClr val="141E47"/>
          </a:solidFill>
          <a:ln/>
          <a:effectLst>
            <a:outerShdw sx="100000" sy="100000" kx="0" ky="0" algn="bl" rotWithShape="0" blurRad="101600" dist="38100" dir="5400000">
              <a:srgbClr val="000000">
                <a:alpha val="35000"/>
              </a:srgbClr>
            </a:outerShdw>
          </a:effectLst>
        </p:spPr>
      </p:sp>
      <p:sp>
        <p:nvSpPr>
          <p:cNvPr id="19" name="Text 17"/>
          <p:cNvSpPr txBox="1"/>
          <p:nvPr/>
        </p:nvSpPr>
        <p:spPr>
          <a:xfrm>
            <a:off x="914400" y="4983480"/>
            <a:ext cx="2743200" cy="320040"/>
          </a:xfrm>
          <a:prstGeom prst="rect">
            <a:avLst/>
          </a:prstGeom>
          <a:noFill/>
          <a:ln/>
        </p:spPr>
        <p:txBody>
          <a:bodyPr wrap="square" lIns="0" tIns="0" rIns="0" bIns="0" rtlCol="0" anchor="ctr"/>
          <a:lstStyle/>
          <a:p>
            <a:pPr indent="0" marL="0">
              <a:buNone/>
            </a:pPr>
            <a:r>
              <a:rPr lang="en-US" sz="1150" b="1" spc="200" kern="0" dirty="0">
                <a:solidFill>
                  <a:srgbClr val="4ED6A1"/>
                </a:solidFill>
                <a:latin typeface="Calibri" pitchFamily="34" charset="0"/>
                <a:ea typeface="Calibri" pitchFamily="34" charset="-122"/>
                <a:cs typeface="Calibri" pitchFamily="34" charset="-120"/>
              </a:rPr>
              <a:t>In one line</a:t>
            </a:r>
            <a:endParaRPr lang="en-US" sz="1150" dirty="0"/>
          </a:p>
        </p:txBody>
      </p:sp>
      <p:sp>
        <p:nvSpPr>
          <p:cNvPr id="20" name="Text 18"/>
          <p:cNvSpPr txBox="1"/>
          <p:nvPr/>
        </p:nvSpPr>
        <p:spPr>
          <a:xfrm>
            <a:off x="914400" y="5303520"/>
            <a:ext cx="10332720" cy="640080"/>
          </a:xfrm>
          <a:prstGeom prst="rect">
            <a:avLst/>
          </a:prstGeom>
          <a:noFill/>
          <a:ln/>
        </p:spPr>
        <p:txBody>
          <a:bodyPr wrap="square" lIns="0" tIns="0" rIns="0" bIns="0" rtlCol="0" anchor="ctr"/>
          <a:lstStyle/>
          <a:p>
            <a:pPr indent="0" marL="0">
              <a:buNone/>
            </a:pPr>
            <a:r>
              <a:rPr lang="en-US" sz="1700" i="1" dirty="0">
                <a:solidFill>
                  <a:srgbClr val="FFFFFF"/>
                </a:solidFill>
                <a:latin typeface="Calibri" pitchFamily="34" charset="0"/>
                <a:ea typeface="Calibri" pitchFamily="34" charset="-122"/>
                <a:cs typeface="Calibri" pitchFamily="34" charset="-120"/>
              </a:rPr>
              <a:t>“I can prove I know the password — without ever telling you the password.”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731520"/>
          </a:xfrm>
          <a:prstGeom prst="rect">
            <a:avLst/>
          </a:prstGeom>
          <a:noFill/>
          <a:ln/>
        </p:spPr>
        <p:txBody>
          <a:bodyPr wrap="square" lIns="0" tIns="0" rIns="0" bIns="0" rtlCol="0" anchor="ctr"/>
          <a:lstStyle/>
          <a:p>
            <a:pPr indent="0" marL="0">
              <a:buNone/>
            </a:pPr>
            <a:r>
              <a:rPr lang="en-US" sz="3200" b="1" dirty="0">
                <a:solidFill>
                  <a:srgbClr val="0B1437"/>
                </a:solidFill>
                <a:latin typeface="Cambria" pitchFamily="34" charset="0"/>
                <a:ea typeface="Cambria" pitchFamily="34" charset="-122"/>
                <a:cs typeface="Cambria" pitchFamily="34" charset="-120"/>
              </a:rPr>
              <a:t>How ZK proofs help consensus</a:t>
            </a:r>
            <a:endParaRPr lang="en-US" sz="3200" dirty="0"/>
          </a:p>
        </p:txBody>
      </p:sp>
      <p:sp>
        <p:nvSpPr>
          <p:cNvPr id="3" name="Text 1"/>
          <p:cNvSpPr txBox="1"/>
          <p:nvPr/>
        </p:nvSpPr>
        <p:spPr>
          <a:xfrm>
            <a:off x="640080" y="1170432"/>
            <a:ext cx="10972800" cy="502920"/>
          </a:xfrm>
          <a:prstGeom prst="rect">
            <a:avLst/>
          </a:prstGeom>
          <a:noFill/>
          <a:ln/>
        </p:spPr>
        <p:txBody>
          <a:bodyPr wrap="square" lIns="0" tIns="0" rIns="0" bIns="0" rtlCol="0" anchor="ctr"/>
          <a:lstStyle/>
          <a:p>
            <a:pPr indent="0" marL="0">
              <a:buNone/>
            </a:pPr>
            <a:r>
              <a:rPr lang="en-US" sz="1550" dirty="0">
                <a:solidFill>
                  <a:srgbClr val="47536F"/>
                </a:solidFill>
                <a:latin typeface="Calibri" pitchFamily="34" charset="0"/>
                <a:ea typeface="Calibri" pitchFamily="34" charset="-122"/>
                <a:cs typeface="Calibri" pitchFamily="34" charset="-120"/>
              </a:rPr>
              <a:t>Consensus = many nodes agreeing on one valid state. ZK proofs make that agreement cheaper and more private.</a:t>
            </a:r>
            <a:endParaRPr lang="en-US" sz="1550" dirty="0"/>
          </a:p>
        </p:txBody>
      </p:sp>
      <p:sp>
        <p:nvSpPr>
          <p:cNvPr id="4" name="Shape 2"/>
          <p:cNvSpPr/>
          <p:nvPr/>
        </p:nvSpPr>
        <p:spPr>
          <a:xfrm>
            <a:off x="640080" y="1828800"/>
            <a:ext cx="10881360" cy="1280160"/>
          </a:xfrm>
          <a:prstGeom prst="roundRect">
            <a:avLst>
              <a:gd name="adj" fmla="val 6429"/>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868680" y="2075688"/>
            <a:ext cx="777240" cy="777240"/>
          </a:xfrm>
          <a:prstGeom prst="roundRect">
            <a:avLst>
              <a:gd name="adj" fmla="val 14118"/>
            </a:avLst>
          </a:prstGeom>
          <a:solidFill>
            <a:srgbClr val="8C7BFF"/>
          </a:solidFill>
          <a:ln/>
        </p:spPr>
      </p:sp>
      <p:sp>
        <p:nvSpPr>
          <p:cNvPr id="6" name="Text 4"/>
          <p:cNvSpPr txBox="1"/>
          <p:nvPr/>
        </p:nvSpPr>
        <p:spPr>
          <a:xfrm>
            <a:off x="1874520" y="2011680"/>
            <a:ext cx="9418320" cy="457200"/>
          </a:xfrm>
          <a:prstGeom prst="rect">
            <a:avLst/>
          </a:prstGeom>
          <a:noFill/>
          <a:ln/>
        </p:spPr>
        <p:txBody>
          <a:bodyPr wrap="square" lIns="0" tIns="0" rIns="0" bIns="0" rtlCol="0" anchor="ctr"/>
          <a:lstStyle/>
          <a:p>
            <a:pPr indent="0" marL="0">
              <a:buNone/>
            </a:pPr>
            <a:r>
              <a:rPr lang="en-US" sz="1800" b="1" dirty="0">
                <a:solidFill>
                  <a:srgbClr val="0B1437"/>
                </a:solidFill>
                <a:latin typeface="Cambria" pitchFamily="34" charset="0"/>
                <a:ea typeface="Cambria" pitchFamily="34" charset="-122"/>
                <a:cs typeface="Cambria" pitchFamily="34" charset="-120"/>
              </a:rPr>
              <a:t>Verify instead of re-run</a:t>
            </a:r>
            <a:endParaRPr lang="en-US" sz="1800" dirty="0"/>
          </a:p>
        </p:txBody>
      </p:sp>
      <p:sp>
        <p:nvSpPr>
          <p:cNvPr id="7" name="Text 5"/>
          <p:cNvSpPr txBox="1"/>
          <p:nvPr/>
        </p:nvSpPr>
        <p:spPr>
          <a:xfrm>
            <a:off x="1874520" y="2450592"/>
            <a:ext cx="9418320" cy="566928"/>
          </a:xfrm>
          <a:prstGeom prst="rect">
            <a:avLst/>
          </a:prstGeom>
          <a:noFill/>
          <a:ln/>
        </p:spPr>
        <p:txBody>
          <a:bodyPr wrap="square" lIns="0" tIns="0" rIns="0" bIns="0" rtlCol="0" anchor="ctr"/>
          <a:lstStyle/>
          <a:p>
            <a:pPr indent="0" marL="0">
              <a:buNone/>
            </a:pPr>
            <a:r>
              <a:rPr lang="en-US" sz="1400" dirty="0">
                <a:solidFill>
                  <a:srgbClr val="47536F"/>
                </a:solidFill>
                <a:latin typeface="Calibri" pitchFamily="34" charset="0"/>
                <a:ea typeface="Calibri" pitchFamily="34" charset="-122"/>
                <a:cs typeface="Calibri" pitchFamily="34" charset="-120"/>
              </a:rPr>
              <a:t>Nodes check one small proof rather than re-executing every transaction — agreement becomes fast and scalable.</a:t>
            </a:r>
            <a:endParaRPr lang="en-US" sz="1400" dirty="0"/>
          </a:p>
        </p:txBody>
      </p:sp>
      <p:sp>
        <p:nvSpPr>
          <p:cNvPr id="8" name="Shape 6"/>
          <p:cNvSpPr/>
          <p:nvPr/>
        </p:nvSpPr>
        <p:spPr>
          <a:xfrm>
            <a:off x="640080" y="3264408"/>
            <a:ext cx="10881360" cy="1280160"/>
          </a:xfrm>
          <a:prstGeom prst="roundRect">
            <a:avLst>
              <a:gd name="adj" fmla="val 6429"/>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9" name="Shape 7"/>
          <p:cNvSpPr/>
          <p:nvPr/>
        </p:nvSpPr>
        <p:spPr>
          <a:xfrm>
            <a:off x="868680" y="3511296"/>
            <a:ext cx="777240" cy="777240"/>
          </a:xfrm>
          <a:prstGeom prst="roundRect">
            <a:avLst>
              <a:gd name="adj" fmla="val 14118"/>
            </a:avLst>
          </a:prstGeom>
          <a:solidFill>
            <a:srgbClr val="5FA8FF"/>
          </a:solidFill>
          <a:ln/>
        </p:spPr>
      </p:sp>
      <p:sp>
        <p:nvSpPr>
          <p:cNvPr id="10" name="Text 8"/>
          <p:cNvSpPr txBox="1"/>
          <p:nvPr/>
        </p:nvSpPr>
        <p:spPr>
          <a:xfrm>
            <a:off x="1874520" y="3447288"/>
            <a:ext cx="9418320" cy="457200"/>
          </a:xfrm>
          <a:prstGeom prst="rect">
            <a:avLst/>
          </a:prstGeom>
          <a:noFill/>
          <a:ln/>
        </p:spPr>
        <p:txBody>
          <a:bodyPr wrap="square" lIns="0" tIns="0" rIns="0" bIns="0" rtlCol="0" anchor="ctr"/>
          <a:lstStyle/>
          <a:p>
            <a:pPr indent="0" marL="0">
              <a:buNone/>
            </a:pPr>
            <a:r>
              <a:rPr lang="en-US" sz="1800" b="1" dirty="0">
                <a:solidFill>
                  <a:srgbClr val="0B1437"/>
                </a:solidFill>
                <a:latin typeface="Cambria" pitchFamily="34" charset="0"/>
                <a:ea typeface="Cambria" pitchFamily="34" charset="-122"/>
                <a:cs typeface="Cambria" pitchFamily="34" charset="-120"/>
              </a:rPr>
              <a:t>Trust the proof, not the prover</a:t>
            </a:r>
            <a:endParaRPr lang="en-US" sz="1800" dirty="0"/>
          </a:p>
        </p:txBody>
      </p:sp>
      <p:sp>
        <p:nvSpPr>
          <p:cNvPr id="11" name="Text 9"/>
          <p:cNvSpPr txBox="1"/>
          <p:nvPr/>
        </p:nvSpPr>
        <p:spPr>
          <a:xfrm>
            <a:off x="1874520" y="3886200"/>
            <a:ext cx="9418320" cy="566928"/>
          </a:xfrm>
          <a:prstGeom prst="rect">
            <a:avLst/>
          </a:prstGeom>
          <a:noFill/>
          <a:ln/>
        </p:spPr>
        <p:txBody>
          <a:bodyPr wrap="square" lIns="0" tIns="0" rIns="0" bIns="0" rtlCol="0" anchor="ctr"/>
          <a:lstStyle/>
          <a:p>
            <a:pPr indent="0" marL="0">
              <a:buNone/>
            </a:pPr>
            <a:r>
              <a:rPr lang="en-US" sz="1400" dirty="0">
                <a:solidFill>
                  <a:srgbClr val="47536F"/>
                </a:solidFill>
                <a:latin typeface="Calibri" pitchFamily="34" charset="0"/>
                <a:ea typeface="Calibri" pitchFamily="34" charset="-122"/>
                <a:cs typeface="Calibri" pitchFamily="34" charset="-120"/>
              </a:rPr>
              <a:t>A valid proof is accepted by all nodes regardless of who produced it — no need to trust any single party.</a:t>
            </a:r>
            <a:endParaRPr lang="en-US" sz="1400" dirty="0"/>
          </a:p>
        </p:txBody>
      </p:sp>
      <p:sp>
        <p:nvSpPr>
          <p:cNvPr id="12" name="Shape 10"/>
          <p:cNvSpPr/>
          <p:nvPr/>
        </p:nvSpPr>
        <p:spPr>
          <a:xfrm>
            <a:off x="640080" y="4700016"/>
            <a:ext cx="10881360" cy="1280160"/>
          </a:xfrm>
          <a:prstGeom prst="roundRect">
            <a:avLst>
              <a:gd name="adj" fmla="val 6429"/>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13" name="Shape 11"/>
          <p:cNvSpPr/>
          <p:nvPr/>
        </p:nvSpPr>
        <p:spPr>
          <a:xfrm>
            <a:off x="868680" y="4946904"/>
            <a:ext cx="777240" cy="777240"/>
          </a:xfrm>
          <a:prstGeom prst="roundRect">
            <a:avLst>
              <a:gd name="adj" fmla="val 14118"/>
            </a:avLst>
          </a:prstGeom>
          <a:solidFill>
            <a:srgbClr val="4ED6A1"/>
          </a:solidFill>
          <a:ln/>
        </p:spPr>
      </p:sp>
      <p:sp>
        <p:nvSpPr>
          <p:cNvPr id="14" name="Text 12"/>
          <p:cNvSpPr txBox="1"/>
          <p:nvPr/>
        </p:nvSpPr>
        <p:spPr>
          <a:xfrm>
            <a:off x="1874520" y="4882896"/>
            <a:ext cx="9418320" cy="457200"/>
          </a:xfrm>
          <a:prstGeom prst="rect">
            <a:avLst/>
          </a:prstGeom>
          <a:noFill/>
          <a:ln/>
        </p:spPr>
        <p:txBody>
          <a:bodyPr wrap="square" lIns="0" tIns="0" rIns="0" bIns="0" rtlCol="0" anchor="ctr"/>
          <a:lstStyle/>
          <a:p>
            <a:pPr indent="0" marL="0">
              <a:buNone/>
            </a:pPr>
            <a:r>
              <a:rPr lang="en-US" sz="1800" b="1" dirty="0">
                <a:solidFill>
                  <a:srgbClr val="0B1437"/>
                </a:solidFill>
                <a:latin typeface="Cambria" pitchFamily="34" charset="0"/>
                <a:ea typeface="Cambria" pitchFamily="34" charset="-122"/>
                <a:cs typeface="Cambria" pitchFamily="34" charset="-120"/>
              </a:rPr>
              <a:t>Agree without exposing data</a:t>
            </a:r>
            <a:endParaRPr lang="en-US" sz="1800" dirty="0"/>
          </a:p>
        </p:txBody>
      </p:sp>
      <p:sp>
        <p:nvSpPr>
          <p:cNvPr id="15" name="Text 13"/>
          <p:cNvSpPr txBox="1"/>
          <p:nvPr/>
        </p:nvSpPr>
        <p:spPr>
          <a:xfrm>
            <a:off x="1874520" y="5321808"/>
            <a:ext cx="9418320" cy="566928"/>
          </a:xfrm>
          <a:prstGeom prst="rect">
            <a:avLst/>
          </a:prstGeom>
          <a:noFill/>
          <a:ln/>
        </p:spPr>
        <p:txBody>
          <a:bodyPr wrap="square" lIns="0" tIns="0" rIns="0" bIns="0" rtlCol="0" anchor="ctr"/>
          <a:lstStyle/>
          <a:p>
            <a:pPr indent="0" marL="0">
              <a:buNone/>
            </a:pPr>
            <a:r>
              <a:rPr lang="en-US" sz="1400" dirty="0">
                <a:solidFill>
                  <a:srgbClr val="47536F"/>
                </a:solidFill>
                <a:latin typeface="Calibri" pitchFamily="34" charset="0"/>
                <a:ea typeface="Calibri" pitchFamily="34" charset="-122"/>
                <a:cs typeface="Calibri" pitchFamily="34" charset="-120"/>
              </a:rPr>
              <a:t>Nodes can reach consensus on a state transition while the underlying inputs stay private.</a:t>
            </a:r>
            <a:endParaRPr lang="en-US" sz="1400" dirty="0"/>
          </a:p>
        </p:txBody>
      </p:sp>
      <p:sp>
        <p:nvSpPr>
          <p:cNvPr id="16" name="Text 14"/>
          <p:cNvSpPr txBox="1"/>
          <p:nvPr/>
        </p:nvSpPr>
        <p:spPr>
          <a:xfrm>
            <a:off x="640080" y="6263640"/>
            <a:ext cx="10972800" cy="457200"/>
          </a:xfrm>
          <a:prstGeom prst="rect">
            <a:avLst/>
          </a:prstGeom>
          <a:noFill/>
          <a:ln/>
        </p:spPr>
        <p:txBody>
          <a:bodyPr wrap="square" lIns="0" tIns="0" rIns="0" bIns="0" rtlCol="0" anchor="ctr"/>
          <a:lstStyle/>
          <a:p>
            <a:pPr indent="0" marL="0">
              <a:buNone/>
            </a:pPr>
            <a:r>
              <a:rPr lang="en-US" sz="1600" b="1" i="1" dirty="0">
                <a:solidFill>
                  <a:srgbClr val="8C7BFF"/>
                </a:solidFill>
                <a:latin typeface="Calibri" pitchFamily="34" charset="0"/>
                <a:ea typeface="Calibri" pitchFamily="34" charset="-122"/>
                <a:cs typeface="Calibri" pitchFamily="34" charset="-120"/>
              </a:rPr>
              <a:t>Prototype idea:  prove a block is valid once — every node agrees by checking the proof, not the work.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731520"/>
          </a:xfrm>
          <a:prstGeom prst="rect">
            <a:avLst/>
          </a:prstGeom>
          <a:noFill/>
          <a:ln/>
        </p:spPr>
        <p:txBody>
          <a:bodyPr wrap="square" lIns="0" tIns="0" rIns="0" bIns="0" rtlCol="0" anchor="ctr"/>
          <a:lstStyle/>
          <a:p>
            <a:pPr indent="0" marL="0">
              <a:buNone/>
            </a:pPr>
            <a:r>
              <a:rPr lang="en-US" sz="3200" b="1" dirty="0">
                <a:solidFill>
                  <a:srgbClr val="0B1437"/>
                </a:solidFill>
                <a:latin typeface="Cambria" pitchFamily="34" charset="0"/>
                <a:ea typeface="Cambria" pitchFamily="34" charset="-122"/>
                <a:cs typeface="Cambria" pitchFamily="34" charset="-120"/>
              </a:rPr>
              <a:t>Step 3 — recovering source from bytecode</a:t>
            </a:r>
            <a:endParaRPr lang="en-US" sz="3200" dirty="0"/>
          </a:p>
        </p:txBody>
      </p:sp>
      <p:sp>
        <p:nvSpPr>
          <p:cNvPr id="3" name="Text 1"/>
          <p:cNvSpPr txBox="1"/>
          <p:nvPr/>
        </p:nvSpPr>
        <p:spPr>
          <a:xfrm>
            <a:off x="640080" y="1170432"/>
            <a:ext cx="10972800" cy="457200"/>
          </a:xfrm>
          <a:prstGeom prst="rect">
            <a:avLst/>
          </a:prstGeom>
          <a:noFill/>
          <a:ln/>
        </p:spPr>
        <p:txBody>
          <a:bodyPr wrap="square" lIns="0" tIns="0" rIns="0" bIns="0" rtlCol="0" anchor="ctr"/>
          <a:lstStyle/>
          <a:p>
            <a:pPr indent="0" marL="0">
              <a:buNone/>
            </a:pPr>
            <a:r>
              <a:rPr lang="en-US" sz="1600" dirty="0">
                <a:solidFill>
                  <a:srgbClr val="47536F"/>
                </a:solidFill>
                <a:latin typeface="Calibri" pitchFamily="34" charset="0"/>
                <a:ea typeface="Calibri" pitchFamily="34" charset="-122"/>
                <a:cs typeface="Calibri" pitchFamily="34" charset="-120"/>
              </a:rPr>
              <a:t>We rebuild readable Solidity from raw bytecode, then analyse that.</a:t>
            </a:r>
            <a:endParaRPr lang="en-US" sz="1600" dirty="0"/>
          </a:p>
        </p:txBody>
      </p:sp>
      <p:sp>
        <p:nvSpPr>
          <p:cNvPr id="4" name="Shape 2"/>
          <p:cNvSpPr/>
          <p:nvPr/>
        </p:nvSpPr>
        <p:spPr>
          <a:xfrm>
            <a:off x="685800" y="2011680"/>
            <a:ext cx="2514600" cy="2103120"/>
          </a:xfrm>
          <a:prstGeom prst="roundRect">
            <a:avLst>
              <a:gd name="adj" fmla="val 3913"/>
            </a:avLst>
          </a:prstGeom>
          <a:solidFill>
            <a:srgbClr val="1E2A5A"/>
          </a:solidFill>
          <a:ln/>
          <a:effectLst>
            <a:outerShdw sx="100000" sy="100000" kx="0" ky="0" algn="bl" rotWithShape="0" blurRad="101600" dist="38100" dir="5400000">
              <a:srgbClr val="000000">
                <a:alpha val="35000"/>
              </a:srgbClr>
            </a:outerShdw>
          </a:effectLst>
        </p:spPr>
      </p:sp>
      <p:sp>
        <p:nvSpPr>
          <p:cNvPr id="5" name="Text 3"/>
          <p:cNvSpPr txBox="1"/>
          <p:nvPr/>
        </p:nvSpPr>
        <p:spPr>
          <a:xfrm>
            <a:off x="685800" y="2286000"/>
            <a:ext cx="251460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Bytecode</a:t>
            </a:r>
            <a:endParaRPr lang="en-US" sz="2100" dirty="0"/>
          </a:p>
        </p:txBody>
      </p:sp>
      <p:sp>
        <p:nvSpPr>
          <p:cNvPr id="6" name="Text 4"/>
          <p:cNvSpPr txBox="1"/>
          <p:nvPr/>
        </p:nvSpPr>
        <p:spPr>
          <a:xfrm>
            <a:off x="868680" y="2926080"/>
            <a:ext cx="2148840" cy="100584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raw on-chain machine code</a:t>
            </a:r>
            <a:endParaRPr lang="en-US" sz="1350" dirty="0"/>
          </a:p>
        </p:txBody>
      </p:sp>
      <p:sp>
        <p:nvSpPr>
          <p:cNvPr id="7" name="Text 5"/>
          <p:cNvSpPr txBox="1"/>
          <p:nvPr/>
        </p:nvSpPr>
        <p:spPr>
          <a:xfrm>
            <a:off x="3200400" y="2834640"/>
            <a:ext cx="457200" cy="457200"/>
          </a:xfrm>
          <a:prstGeom prst="rect">
            <a:avLst/>
          </a:prstGeom>
          <a:noFill/>
          <a:ln/>
        </p:spPr>
        <p:txBody>
          <a:bodyPr wrap="square" lIns="0" tIns="0" rIns="0" bIns="0" rtlCol="0" anchor="ctr"/>
          <a:lstStyle/>
          <a:p>
            <a:pPr algn="ctr" indent="0" marL="0">
              <a:buNone/>
            </a:pPr>
            <a:r>
              <a:rPr lang="en-US" sz="2600" b="1" dirty="0">
                <a:solidFill>
                  <a:srgbClr val="8C7BFF"/>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584448" y="2011680"/>
            <a:ext cx="2514600" cy="2103120"/>
          </a:xfrm>
          <a:prstGeom prst="roundRect">
            <a:avLst>
              <a:gd name="adj" fmla="val 3913"/>
            </a:avLst>
          </a:prstGeom>
          <a:solidFill>
            <a:srgbClr val="8C7BFF"/>
          </a:solidFill>
          <a:ln/>
          <a:effectLst>
            <a:outerShdw sx="100000" sy="100000" kx="0" ky="0" algn="bl" rotWithShape="0" blurRad="101600" dist="38100" dir="5400000">
              <a:srgbClr val="000000">
                <a:alpha val="35000"/>
              </a:srgbClr>
            </a:outerShdw>
          </a:effectLst>
        </p:spPr>
      </p:sp>
      <p:sp>
        <p:nvSpPr>
          <p:cNvPr id="9" name="Text 7"/>
          <p:cNvSpPr txBox="1"/>
          <p:nvPr/>
        </p:nvSpPr>
        <p:spPr>
          <a:xfrm>
            <a:off x="3584448" y="2286000"/>
            <a:ext cx="251460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Gigahorse</a:t>
            </a:r>
            <a:endParaRPr lang="en-US" sz="2100" dirty="0"/>
          </a:p>
        </p:txBody>
      </p:sp>
      <p:sp>
        <p:nvSpPr>
          <p:cNvPr id="10" name="Text 8"/>
          <p:cNvSpPr txBox="1"/>
          <p:nvPr/>
        </p:nvSpPr>
        <p:spPr>
          <a:xfrm>
            <a:off x="3767328" y="2926080"/>
            <a:ext cx="2148840" cy="100584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decompiles to a readable intermediate form (TAC)</a:t>
            </a:r>
            <a:endParaRPr lang="en-US" sz="1350" dirty="0"/>
          </a:p>
        </p:txBody>
      </p:sp>
      <p:sp>
        <p:nvSpPr>
          <p:cNvPr id="11" name="Text 9"/>
          <p:cNvSpPr txBox="1"/>
          <p:nvPr/>
        </p:nvSpPr>
        <p:spPr>
          <a:xfrm>
            <a:off x="6099048" y="2834640"/>
            <a:ext cx="457200" cy="457200"/>
          </a:xfrm>
          <a:prstGeom prst="rect">
            <a:avLst/>
          </a:prstGeom>
          <a:noFill/>
          <a:ln/>
        </p:spPr>
        <p:txBody>
          <a:bodyPr wrap="square" lIns="0" tIns="0" rIns="0" bIns="0" rtlCol="0" anchor="ctr"/>
          <a:lstStyle/>
          <a:p>
            <a:pPr algn="ctr" indent="0" marL="0">
              <a:buNone/>
            </a:pPr>
            <a:r>
              <a:rPr lang="en-US" sz="2600" b="1" dirty="0">
                <a:solidFill>
                  <a:srgbClr val="8C7BFF"/>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483096" y="2011680"/>
            <a:ext cx="2514600" cy="2103120"/>
          </a:xfrm>
          <a:prstGeom prst="roundRect">
            <a:avLst>
              <a:gd name="adj" fmla="val 3913"/>
            </a:avLst>
          </a:prstGeom>
          <a:solidFill>
            <a:srgbClr val="5FA8FF"/>
          </a:solidFill>
          <a:ln/>
          <a:effectLst>
            <a:outerShdw sx="100000" sy="100000" kx="0" ky="0" algn="bl" rotWithShape="0" blurRad="101600" dist="38100" dir="5400000">
              <a:srgbClr val="000000">
                <a:alpha val="35000"/>
              </a:srgbClr>
            </a:outerShdw>
          </a:effectLst>
        </p:spPr>
      </p:sp>
      <p:sp>
        <p:nvSpPr>
          <p:cNvPr id="13" name="Text 11"/>
          <p:cNvSpPr txBox="1"/>
          <p:nvPr/>
        </p:nvSpPr>
        <p:spPr>
          <a:xfrm>
            <a:off x="6483096" y="2286000"/>
            <a:ext cx="251460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LLM</a:t>
            </a:r>
            <a:endParaRPr lang="en-US" sz="2100" dirty="0"/>
          </a:p>
        </p:txBody>
      </p:sp>
      <p:sp>
        <p:nvSpPr>
          <p:cNvPr id="14" name="Text 12"/>
          <p:cNvSpPr txBox="1"/>
          <p:nvPr/>
        </p:nvSpPr>
        <p:spPr>
          <a:xfrm>
            <a:off x="6665976" y="2926080"/>
            <a:ext cx="2148840" cy="100584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rebuilds likely Solidity source</a:t>
            </a:r>
            <a:endParaRPr lang="en-US" sz="1350" dirty="0"/>
          </a:p>
        </p:txBody>
      </p:sp>
      <p:sp>
        <p:nvSpPr>
          <p:cNvPr id="15" name="Text 13"/>
          <p:cNvSpPr txBox="1"/>
          <p:nvPr/>
        </p:nvSpPr>
        <p:spPr>
          <a:xfrm>
            <a:off x="8997696" y="2834640"/>
            <a:ext cx="457200" cy="457200"/>
          </a:xfrm>
          <a:prstGeom prst="rect">
            <a:avLst/>
          </a:prstGeom>
          <a:noFill/>
          <a:ln/>
        </p:spPr>
        <p:txBody>
          <a:bodyPr wrap="square" lIns="0" tIns="0" rIns="0" bIns="0" rtlCol="0" anchor="ctr"/>
          <a:lstStyle/>
          <a:p>
            <a:pPr algn="ctr" indent="0" marL="0">
              <a:buNone/>
            </a:pPr>
            <a:r>
              <a:rPr lang="en-US" sz="2600" b="1" dirty="0">
                <a:solidFill>
                  <a:srgbClr val="8C7BFF"/>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381744" y="2011680"/>
            <a:ext cx="2514600" cy="2103120"/>
          </a:xfrm>
          <a:prstGeom prst="roundRect">
            <a:avLst>
              <a:gd name="adj" fmla="val 3913"/>
            </a:avLst>
          </a:prstGeom>
          <a:solidFill>
            <a:srgbClr val="4ED6A1"/>
          </a:solidFill>
          <a:ln/>
          <a:effectLst>
            <a:outerShdw sx="100000" sy="100000" kx="0" ky="0" algn="bl" rotWithShape="0" blurRad="101600" dist="38100" dir="5400000">
              <a:srgbClr val="000000">
                <a:alpha val="35000"/>
              </a:srgbClr>
            </a:outerShdw>
          </a:effectLst>
        </p:spPr>
      </p:sp>
      <p:sp>
        <p:nvSpPr>
          <p:cNvPr id="17" name="Text 15"/>
          <p:cNvSpPr txBox="1"/>
          <p:nvPr/>
        </p:nvSpPr>
        <p:spPr>
          <a:xfrm>
            <a:off x="9381744" y="2286000"/>
            <a:ext cx="2514600" cy="548640"/>
          </a:xfrm>
          <a:prstGeom prst="rect">
            <a:avLst/>
          </a:prstGeom>
          <a:noFill/>
          <a:ln/>
        </p:spPr>
        <p:txBody>
          <a:bodyPr wrap="square" lIns="0" tIns="0" rIns="0" bIns="0" rtlCol="0" anchor="ctr"/>
          <a:lstStyle/>
          <a:p>
            <a:pPr algn="ctr" indent="0" marL="0">
              <a:buNone/>
            </a:pPr>
            <a:r>
              <a:rPr lang="en-US" sz="2100" b="1" dirty="0">
                <a:solidFill>
                  <a:srgbClr val="0B1437"/>
                </a:solidFill>
                <a:latin typeface="Cambria" pitchFamily="34" charset="0"/>
                <a:ea typeface="Cambria" pitchFamily="34" charset="-122"/>
                <a:cs typeface="Cambria" pitchFamily="34" charset="-120"/>
              </a:rPr>
              <a:t>Analyse</a:t>
            </a:r>
            <a:endParaRPr lang="en-US" sz="2100" dirty="0"/>
          </a:p>
        </p:txBody>
      </p:sp>
      <p:sp>
        <p:nvSpPr>
          <p:cNvPr id="18" name="Text 16"/>
          <p:cNvSpPr txBox="1"/>
          <p:nvPr/>
        </p:nvSpPr>
        <p:spPr>
          <a:xfrm>
            <a:off x="9564624" y="2926080"/>
            <a:ext cx="2148840" cy="1005840"/>
          </a:xfrm>
          <a:prstGeom prst="rect">
            <a:avLst/>
          </a:prstGeom>
          <a:noFill/>
          <a:ln/>
        </p:spPr>
        <p:txBody>
          <a:bodyPr wrap="square" lIns="0" tIns="0" rIns="0" bIns="0" rtlCol="0" anchor="ctr"/>
          <a:lstStyle/>
          <a:p>
            <a:pPr algn="ctr" indent="0" marL="0">
              <a:buNone/>
            </a:pPr>
            <a:r>
              <a:rPr lang="en-US" sz="1350" dirty="0">
                <a:solidFill>
                  <a:srgbClr val="24433A"/>
                </a:solidFill>
                <a:latin typeface="Calibri" pitchFamily="34" charset="0"/>
                <a:ea typeface="Calibri" pitchFamily="34" charset="-122"/>
                <a:cs typeface="Calibri" pitchFamily="34" charset="-120"/>
              </a:rPr>
              <a:t>run the same bug-finding tools</a:t>
            </a:r>
            <a:endParaRPr lang="en-US" sz="1350" dirty="0"/>
          </a:p>
        </p:txBody>
      </p:sp>
      <p:sp>
        <p:nvSpPr>
          <p:cNvPr id="19" name="Shape 17"/>
          <p:cNvSpPr/>
          <p:nvPr/>
        </p:nvSpPr>
        <p:spPr>
          <a:xfrm>
            <a:off x="685800" y="4572000"/>
            <a:ext cx="10744200" cy="1554480"/>
          </a:xfrm>
          <a:prstGeom prst="roundRect">
            <a:avLst>
              <a:gd name="adj" fmla="val 5294"/>
            </a:avLst>
          </a:prstGeom>
          <a:solidFill>
            <a:srgbClr val="FFFFFF"/>
          </a:solidFill>
          <a:ln w="12700">
            <a:solidFill>
              <a:srgbClr val="E3E9F7"/>
            </a:solidFill>
            <a:prstDash val="solid"/>
          </a:ln>
          <a:effectLst>
            <a:outerShdw sx="100000" sy="100000" kx="0" ky="0" algn="bl" rotWithShape="0" blurRad="101600" dist="38100" dir="5400000">
              <a:srgbClr val="000000">
                <a:alpha val="35000"/>
              </a:srgbClr>
            </a:outerShdw>
          </a:effectLst>
        </p:spPr>
      </p:sp>
      <p:sp>
        <p:nvSpPr>
          <p:cNvPr id="20" name="Text 18"/>
          <p:cNvSpPr txBox="1"/>
          <p:nvPr/>
        </p:nvSpPr>
        <p:spPr>
          <a:xfrm>
            <a:off x="914400" y="4800600"/>
            <a:ext cx="2377440" cy="1097280"/>
          </a:xfrm>
          <a:prstGeom prst="rect">
            <a:avLst/>
          </a:prstGeom>
          <a:noFill/>
          <a:ln/>
        </p:spPr>
        <p:txBody>
          <a:bodyPr wrap="square" lIns="0" tIns="0" rIns="0" bIns="0" rtlCol="0" anchor="ctr"/>
          <a:lstStyle/>
          <a:p>
            <a:pPr algn="ctr" indent="0" marL="0">
              <a:buNone/>
            </a:pPr>
            <a:r>
              <a:rPr lang="en-US" sz="4800" b="1" dirty="0">
                <a:solidFill>
                  <a:srgbClr val="8C7BFF"/>
                </a:solidFill>
                <a:latin typeface="Cambria" pitchFamily="34" charset="0"/>
                <a:ea typeface="Cambria" pitchFamily="34" charset="-122"/>
                <a:cs typeface="Cambria" pitchFamily="34" charset="-120"/>
              </a:rPr>
              <a:t>~2,175</a:t>
            </a:r>
            <a:endParaRPr lang="en-US" sz="4800" dirty="0"/>
          </a:p>
        </p:txBody>
      </p:sp>
      <p:sp>
        <p:nvSpPr>
          <p:cNvPr id="21" name="Text 19"/>
          <p:cNvSpPr txBox="1"/>
          <p:nvPr/>
        </p:nvSpPr>
        <p:spPr>
          <a:xfrm>
            <a:off x="3383280" y="4846320"/>
            <a:ext cx="7863840" cy="1097280"/>
          </a:xfrm>
          <a:prstGeom prst="rect">
            <a:avLst/>
          </a:prstGeom>
          <a:noFill/>
          <a:ln/>
        </p:spPr>
        <p:txBody>
          <a:bodyPr wrap="square" lIns="0" tIns="0" rIns="0" bIns="0" rtlCol="0" anchor="ctr"/>
          <a:lstStyle/>
          <a:p>
            <a:pPr indent="0" marL="0">
              <a:spcAft>
                <a:spcPts val="400"/>
              </a:spcAft>
              <a:buNone/>
            </a:pPr>
            <a:r>
              <a:rPr lang="en-US" sz="1600" b="1" dirty="0">
                <a:solidFill>
                  <a:srgbClr val="0B1437"/>
                </a:solidFill>
                <a:latin typeface="Calibri" pitchFamily="34" charset="0"/>
                <a:ea typeface="Calibri" pitchFamily="34" charset="-122"/>
                <a:cs typeface="Calibri" pitchFamily="34" charset="-120"/>
              </a:rPr>
              <a:t>contracts decompiled across our datasets</a:t>
            </a:r>
            <a:endParaRPr lang="en-US" sz="1600" dirty="0"/>
          </a:p>
          <a:p>
            <a:pPr indent="0" marL="0">
              <a:spcAft>
                <a:spcPts val="400"/>
              </a:spcAft>
              <a:buNone/>
            </a:pPr>
            <a:r>
              <a:rPr lang="en-US" sz="1350" dirty="0">
                <a:solidFill>
                  <a:srgbClr val="47536F"/>
                </a:solidFill>
                <a:latin typeface="Calibri" pitchFamily="34" charset="0"/>
                <a:ea typeface="Calibri" pitchFamily="34" charset="-122"/>
                <a:cs typeface="Calibri" pitchFamily="34" charset="-120"/>
              </a:rPr>
              <a:t>Gigahorse-powered pipeline tested at scale — we now measure how faithfully the recovered source matches the original and how many bugs survive the round-trip.</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914400" y="4206240"/>
            <a:ext cx="3108960" cy="3108960"/>
          </a:xfrm>
          <a:prstGeom prst="ellipse">
            <a:avLst/>
          </a:prstGeom>
          <a:solidFill>
            <a:srgbClr val="5FA8FF">
              <a:alpha val="12000"/>
            </a:srgbClr>
          </a:solidFill>
          <a:ln/>
        </p:spPr>
      </p:sp>
      <p:sp>
        <p:nvSpPr>
          <p:cNvPr id="3" name="Text 1"/>
          <p:cNvSpPr txBox="1"/>
          <p:nvPr/>
        </p:nvSpPr>
        <p:spPr>
          <a:xfrm>
            <a:off x="640080" y="54864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Shape 2"/>
          <p:cNvSpPr/>
          <p:nvPr/>
        </p:nvSpPr>
        <p:spPr>
          <a:xfrm>
            <a:off x="640080" y="1554480"/>
            <a:ext cx="3566160" cy="2926080"/>
          </a:xfrm>
          <a:prstGeom prst="roundRect">
            <a:avLst>
              <a:gd name="adj" fmla="val 2813"/>
            </a:avLst>
          </a:prstGeom>
          <a:solidFill>
            <a:srgbClr val="141E47"/>
          </a:solidFill>
          <a:ln/>
          <a:effectLst>
            <a:outerShdw sx="100000" sy="100000" kx="0" ky="0" algn="bl" rotWithShape="0" blurRad="101600" dist="38100" dir="5400000">
              <a:srgbClr val="000000">
                <a:alpha val="35000"/>
              </a:srgbClr>
            </a:outerShdw>
          </a:effectLst>
        </p:spPr>
      </p:sp>
      <p:sp>
        <p:nvSpPr>
          <p:cNvPr id="5" name="Shape 3"/>
          <p:cNvSpPr/>
          <p:nvPr/>
        </p:nvSpPr>
        <p:spPr>
          <a:xfrm>
            <a:off x="914400" y="1828800"/>
            <a:ext cx="502920" cy="502920"/>
          </a:xfrm>
          <a:prstGeom prst="ellipse">
            <a:avLst/>
          </a:prstGeom>
          <a:solidFill>
            <a:srgbClr val="8C7BFF"/>
          </a:solidFill>
          <a:ln/>
        </p:spPr>
      </p:sp>
      <p:sp>
        <p:nvSpPr>
          <p:cNvPr id="6" name="Text 4"/>
          <p:cNvSpPr txBox="1"/>
          <p:nvPr/>
        </p:nvSpPr>
        <p:spPr>
          <a:xfrm>
            <a:off x="914400" y="2514600"/>
            <a:ext cx="3063240"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Obfuscation ≠ security</a:t>
            </a:r>
            <a:endParaRPr lang="en-US" sz="1800" dirty="0"/>
          </a:p>
        </p:txBody>
      </p:sp>
      <p:sp>
        <p:nvSpPr>
          <p:cNvPr id="7" name="Text 5"/>
          <p:cNvSpPr txBox="1"/>
          <p:nvPr/>
        </p:nvSpPr>
        <p:spPr>
          <a:xfrm>
            <a:off x="914400" y="3337560"/>
            <a:ext cx="3063240" cy="10058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Hiding source mostly breaks tools and compilation — it does not remove the bugs.</a:t>
            </a:r>
            <a:endParaRPr lang="en-US" sz="1400" dirty="0"/>
          </a:p>
        </p:txBody>
      </p:sp>
      <p:sp>
        <p:nvSpPr>
          <p:cNvPr id="8" name="Shape 6"/>
          <p:cNvSpPr/>
          <p:nvPr/>
        </p:nvSpPr>
        <p:spPr>
          <a:xfrm>
            <a:off x="4434840" y="1554480"/>
            <a:ext cx="3566160" cy="2926080"/>
          </a:xfrm>
          <a:prstGeom prst="roundRect">
            <a:avLst>
              <a:gd name="adj" fmla="val 2813"/>
            </a:avLst>
          </a:prstGeom>
          <a:solidFill>
            <a:srgbClr val="141E47"/>
          </a:solidFill>
          <a:ln/>
          <a:effectLst>
            <a:outerShdw sx="100000" sy="100000" kx="0" ky="0" algn="bl" rotWithShape="0" blurRad="101600" dist="38100" dir="5400000">
              <a:srgbClr val="000000">
                <a:alpha val="35000"/>
              </a:srgbClr>
            </a:outerShdw>
          </a:effectLst>
        </p:spPr>
      </p:sp>
      <p:sp>
        <p:nvSpPr>
          <p:cNvPr id="9" name="Shape 7"/>
          <p:cNvSpPr/>
          <p:nvPr/>
        </p:nvSpPr>
        <p:spPr>
          <a:xfrm>
            <a:off x="4709160" y="1828800"/>
            <a:ext cx="502920" cy="502920"/>
          </a:xfrm>
          <a:prstGeom prst="ellipse">
            <a:avLst/>
          </a:prstGeom>
          <a:solidFill>
            <a:srgbClr val="5FA8FF"/>
          </a:solidFill>
          <a:ln/>
        </p:spPr>
      </p:sp>
      <p:sp>
        <p:nvSpPr>
          <p:cNvPr id="10" name="Text 8"/>
          <p:cNvSpPr txBox="1"/>
          <p:nvPr/>
        </p:nvSpPr>
        <p:spPr>
          <a:xfrm>
            <a:off x="4709160" y="2514600"/>
            <a:ext cx="3063240"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Closed-source ≠ un-analysable</a:t>
            </a:r>
            <a:endParaRPr lang="en-US" sz="1800" dirty="0"/>
          </a:p>
        </p:txBody>
      </p:sp>
      <p:sp>
        <p:nvSpPr>
          <p:cNvPr id="11" name="Text 9"/>
          <p:cNvSpPr txBox="1"/>
          <p:nvPr/>
        </p:nvSpPr>
        <p:spPr>
          <a:xfrm>
            <a:off x="4709160" y="3337560"/>
            <a:ext cx="3063240" cy="10058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Decompiling + LLM reconstruction lets us recover and analyse source from bytecode.</a:t>
            </a:r>
            <a:endParaRPr lang="en-US" sz="1400" dirty="0"/>
          </a:p>
        </p:txBody>
      </p:sp>
      <p:sp>
        <p:nvSpPr>
          <p:cNvPr id="12" name="Shape 10"/>
          <p:cNvSpPr/>
          <p:nvPr/>
        </p:nvSpPr>
        <p:spPr>
          <a:xfrm>
            <a:off x="8229600" y="1554480"/>
            <a:ext cx="3566160" cy="2926080"/>
          </a:xfrm>
          <a:prstGeom prst="roundRect">
            <a:avLst>
              <a:gd name="adj" fmla="val 2813"/>
            </a:avLst>
          </a:prstGeom>
          <a:solidFill>
            <a:srgbClr val="141E47"/>
          </a:solidFill>
          <a:ln/>
          <a:effectLst>
            <a:outerShdw sx="100000" sy="100000" kx="0" ky="0" algn="bl" rotWithShape="0" blurRad="101600" dist="38100" dir="5400000">
              <a:srgbClr val="000000">
                <a:alpha val="35000"/>
              </a:srgbClr>
            </a:outerShdw>
          </a:effectLst>
        </p:spPr>
      </p:sp>
      <p:sp>
        <p:nvSpPr>
          <p:cNvPr id="13" name="Shape 11"/>
          <p:cNvSpPr/>
          <p:nvPr/>
        </p:nvSpPr>
        <p:spPr>
          <a:xfrm>
            <a:off x="8503920" y="1828800"/>
            <a:ext cx="502920" cy="502920"/>
          </a:xfrm>
          <a:prstGeom prst="ellipse">
            <a:avLst/>
          </a:prstGeom>
          <a:solidFill>
            <a:srgbClr val="4ED6A1"/>
          </a:solidFill>
          <a:ln/>
        </p:spPr>
      </p:sp>
      <p:sp>
        <p:nvSpPr>
          <p:cNvPr id="14" name="Text 12"/>
          <p:cNvSpPr txBox="1"/>
          <p:nvPr/>
        </p:nvSpPr>
        <p:spPr>
          <a:xfrm>
            <a:off x="8503920" y="2514600"/>
            <a:ext cx="3063240"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decompiler is the bottleneck</a:t>
            </a:r>
            <a:endParaRPr lang="en-US" sz="1800" dirty="0"/>
          </a:p>
        </p:txBody>
      </p:sp>
      <p:sp>
        <p:nvSpPr>
          <p:cNvPr id="15" name="Text 13"/>
          <p:cNvSpPr txBox="1"/>
          <p:nvPr/>
        </p:nvSpPr>
        <p:spPr>
          <a:xfrm>
            <a:off x="8503920" y="3337560"/>
            <a:ext cx="3063240" cy="10058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Reconstruction quality depends far more on the decompiler than on the LLM.</a:t>
            </a:r>
            <a:endParaRPr lang="en-US" sz="1400" dirty="0"/>
          </a:p>
        </p:txBody>
      </p:sp>
      <p:sp>
        <p:nvSpPr>
          <p:cNvPr id="16" name="Shape 14"/>
          <p:cNvSpPr/>
          <p:nvPr/>
        </p:nvSpPr>
        <p:spPr>
          <a:xfrm>
            <a:off x="640080" y="4846320"/>
            <a:ext cx="10881360" cy="1371600"/>
          </a:xfrm>
          <a:prstGeom prst="roundRect">
            <a:avLst>
              <a:gd name="adj" fmla="val 6000"/>
            </a:avLst>
          </a:prstGeom>
          <a:solidFill>
            <a:srgbClr val="1E2A5A"/>
          </a:solidFill>
          <a:ln/>
          <a:effectLst>
            <a:outerShdw sx="100000" sy="100000" kx="0" ky="0" algn="bl" rotWithShape="0" blurRad="101600" dist="38100" dir="5400000">
              <a:srgbClr val="000000">
                <a:alpha val="35000"/>
              </a:srgbClr>
            </a:outerShdw>
          </a:effectLst>
        </p:spPr>
      </p:sp>
      <p:sp>
        <p:nvSpPr>
          <p:cNvPr id="17" name="Text 15"/>
          <p:cNvSpPr txBox="1"/>
          <p:nvPr/>
        </p:nvSpPr>
        <p:spPr>
          <a:xfrm>
            <a:off x="914400" y="5029200"/>
            <a:ext cx="640080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a:t>
            </a:r>
            <a:endParaRPr lang="en-US" sz="2400" dirty="0"/>
          </a:p>
        </p:txBody>
      </p:sp>
      <p:sp>
        <p:nvSpPr>
          <p:cNvPr id="18" name="Text 16"/>
          <p:cNvSpPr txBox="1"/>
          <p:nvPr/>
        </p:nvSpPr>
        <p:spPr>
          <a:xfrm>
            <a:off x="914400" y="5623560"/>
            <a:ext cx="10332720" cy="457200"/>
          </a:xfrm>
          <a:prstGeom prst="rect">
            <a:avLst/>
          </a:prstGeom>
          <a:noFill/>
          <a:ln/>
        </p:spPr>
        <p:txBody>
          <a:bodyPr wrap="square" lIns="0" tIns="0" rIns="0" bIns="0" rtlCol="0" anchor="ctr"/>
          <a:lstStyle/>
          <a:p>
            <a:pPr indent="0" marL="0">
              <a:buNone/>
            </a:pPr>
            <a:r>
              <a:rPr lang="en-US" sz="1250" dirty="0">
                <a:solidFill>
                  <a:srgbClr val="8EA0C8"/>
                </a:solidFill>
                <a:latin typeface="Calibri" pitchFamily="34" charset="0"/>
                <a:ea typeface="Calibri" pitchFamily="34" charset="-122"/>
                <a:cs typeface="Calibri" pitchFamily="34" charset="-120"/>
              </a:rPr>
              <a:t>SmartBugs: github.com/smartbugs/smartbugs    ·    Gigahorse (decompiler)    ·    Etherscan: etherscan.io</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Obfuscation Is Not Protection</dc:title>
  <dc:subject>PptxGenJS Presentation</dc:subject>
  <dc:creator>Research Team, IIT Indore</dc:creator>
  <cp:lastModifiedBy>Research Team, IIT Indore</cp:lastModifiedBy>
  <cp:revision>1</cp:revision>
  <dcterms:created xsi:type="dcterms:W3CDTF">2026-10-10T18:04:34Z</dcterms:created>
  <dcterms:modified xsi:type="dcterms:W3CDTF">2026-10-10T18:04:34Z</dcterms:modified>
</cp:coreProperties>
</file>